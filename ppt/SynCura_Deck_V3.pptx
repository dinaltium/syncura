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9" r:id="rId20"/>
    <p:sldId id="270" r:id="rId21"/>
    <p:sldId id="271" r:id="rId22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09728"/>
            <a:ext cx="1463040" cy="146304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87800" y="109728"/>
            <a:ext cx="1463040" cy="1463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073652" y="886054"/>
            <a:ext cx="12801600" cy="1234440"/>
          </a:xfrm>
          <a:prstGeom prst="rect">
            <a:avLst/>
          </a:prstGeom>
          <a:noFill/>
        </p:spPr>
        <p:txBody>
          <a:bodyPr wrap="square"/>
          <a:lstStyle/>
          <a:p>
            <a:pPr algn="ctr" indent="0" marL="0">
              <a:lnSpc>
                <a:spcPct val="150000"/>
              </a:lnSpc>
              <a:buNone/>
            </a:pPr>
            <a:r>
              <a:rPr sz="2000" b="1">
                <a:solidFill>
                  <a:srgbClr val="000000"/>
                </a:solidFill>
                <a:latin typeface="Calibri"/>
              </a:rPr>
              <a:t>P.A. COLLEGE OF ENGINEERING
</a:t>
            </a:r>
            <a:r>
              <a:rPr sz="2000" b="1">
                <a:solidFill>
                  <a:srgbClr val="000000"/>
                </a:solidFill>
                <a:latin typeface="Calibri"/>
              </a:rPr>
              <a:t>DEPARTMENT OF COMPUTER SCIENCE &amp;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64592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ctr" indent="0" marL="0">
              <a:buNone/>
            </a:pPr>
            <a:r>
              <a:rPr sz="6000" b="1">
                <a:solidFill>
                  <a:srgbClr val="000000"/>
                </a:solidFill>
                <a:latin typeface="Calibri"/>
              </a:rPr>
              <a:t>SynCura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063240"/>
            <a:ext cx="1572768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 indent="0" marL="0">
              <a:lnSpc>
                <a:spcPct val="150000"/>
              </a:lnSpc>
              <a:buNone/>
            </a:pPr>
            <a:r>
              <a:rPr sz="3200" b="1">
                <a:solidFill>
                  <a:srgbClr val="000000"/>
                </a:solidFill>
                <a:latin typeface="Calibri"/>
              </a:rPr>
              <a:t>Predictive ICU Monitoring System Using Attention-Based LSTM with Real-Time Explainability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6236208"/>
            <a:ext cx="6446520" cy="2286000"/>
          </a:xfrm>
          <a:prstGeom prst="rect">
            <a:avLst/>
          </a:prstGeom>
          <a:noFill/>
        </p:spPr>
        <p:txBody>
          <a:bodyPr wrap="square"/>
          <a:lstStyle/>
          <a:p>
            <a:pPr indent="0" marL="0">
              <a:lnSpc>
                <a:spcPct val="150000"/>
              </a:lnSpc>
              <a:buNone/>
            </a:pPr>
            <a:r>
              <a:rPr sz="2800" b="1">
                <a:solidFill>
                  <a:srgbClr val="000000"/>
                </a:solidFill>
                <a:latin typeface="Calibri"/>
              </a:rPr>
              <a:t>TEAM MEMBERS :
</a:t>
            </a:r>
            <a:r>
              <a:rPr sz="2800">
                <a:solidFill>
                  <a:srgbClr val="000000"/>
                </a:solidFill>
                <a:latin typeface="Calibri"/>
              </a:rPr>
              <a:t>Abdul Ahad Ikkeri – 4PA24CS002
</a:t>
            </a:r>
            <a:r>
              <a:rPr sz="2800">
                <a:solidFill>
                  <a:srgbClr val="000000"/>
                </a:solidFill>
                <a:latin typeface="Calibri"/>
              </a:rPr>
              <a:t>Fathima Reeha – 4PA24CS026
</a:t>
            </a:r>
            <a:r>
              <a:rPr sz="2800">
                <a:solidFill>
                  <a:srgbClr val="000000"/>
                </a:solidFill>
                <a:latin typeface="Calibri"/>
              </a:rPr>
              <a:t>Fizan Feroz – 4PA24CS032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8208" y="6236208"/>
            <a:ext cx="6089904" cy="1828800"/>
          </a:xfrm>
          <a:prstGeom prst="rect">
            <a:avLst/>
          </a:prstGeom>
          <a:noFill/>
        </p:spPr>
        <p:txBody>
          <a:bodyPr wrap="square"/>
          <a:lstStyle/>
          <a:p>
            <a:p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09728"/>
            <a:ext cx="1463040" cy="146304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87800" y="109728"/>
            <a:ext cx="1463040" cy="1463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073652" y="886054"/>
            <a:ext cx="12801600" cy="1234440"/>
          </a:xfrm>
          <a:prstGeom prst="rect">
            <a:avLst/>
          </a:prstGeom>
          <a:noFill/>
        </p:spPr>
        <p:txBody>
          <a:bodyPr wrap="square"/>
          <a:lstStyle/>
          <a:p>
            <a:pPr algn="ctr" indent="0" marL="0">
              <a:lnSpc>
                <a:spcPct val="150000"/>
              </a:lnSpc>
              <a:buNone/>
            </a:pPr>
            <a:r>
              <a:rPr sz="2000" b="1">
                <a:solidFill>
                  <a:srgbClr val="000000"/>
                </a:solidFill>
                <a:latin typeface="Calibri"/>
              </a:rPr>
              <a:t>P.A. COLLEGE OF ENGINEERING
</a:t>
            </a:r>
            <a:r>
              <a:rPr sz="2000" b="1">
                <a:solidFill>
                  <a:srgbClr val="000000"/>
                </a:solidFill>
                <a:latin typeface="Calibri"/>
              </a:rPr>
              <a:t>DEPARTMENT OF COMPUTER SCIENCE &amp;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79676"/>
            <a:ext cx="16459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 indent="0" marL="0">
              <a:buNone/>
            </a:pPr>
            <a:r>
              <a:rPr sz="3000" b="1">
                <a:solidFill>
                  <a:srgbClr val="1757AC"/>
                </a:solidFill>
                <a:latin typeface="Calibri"/>
              </a:rP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295" y="3261665"/>
            <a:ext cx="16303752" cy="1463040"/>
          </a:xfrm>
          <a:prstGeom prst="rect">
            <a:avLst/>
          </a:prstGeom>
          <a:noFill/>
        </p:spPr>
        <p:txBody>
          <a:bodyPr wrap="square"/>
          <a:lstStyle/>
          <a:p>
            <a:pPr indent="0" marL="0">
              <a:lnSpc>
                <a:spcPct val="150000"/>
              </a:lnSpc>
              <a:buNone/>
            </a:pPr>
            <a:r>
              <a:rPr sz="2200" b="1">
                <a:solidFill>
                  <a:srgbClr val="000000"/>
                </a:solidFill>
                <a:latin typeface="Calibri"/>
              </a:rPr>
              <a:t>ICU deterioration is difficult to identify early from isolated measurements and manual score calculations.</a:t>
            </a:r>
          </a:p>
          <a:p>
            <a:pPr indent="0" marL="0">
              <a:lnSpc>
                <a:spcPct val="150000"/>
              </a:lnSpc>
              <a:buNone/>
            </a:pPr>
            <a:r>
              <a:rPr sz="2200" b="1">
                <a:solidFill>
                  <a:srgbClr val="000000"/>
                </a:solidFill>
                <a:latin typeface="Calibri"/>
              </a:rPr>
              <a:t>Existing rule-based scores do not fully capture the direction, duration, and interaction of changing observations.</a:t>
            </a:r>
          </a:p>
          <a:p>
            <a:pPr indent="0" marL="0">
              <a:lnSpc>
                <a:spcPct val="150000"/>
              </a:lnSpc>
              <a:buNone/>
            </a:pPr>
            <a:r>
              <a:rPr sz="2200" b="1">
                <a:solidFill>
                  <a:srgbClr val="000000"/>
                </a:solidFill>
                <a:latin typeface="Calibri"/>
              </a:rPr>
              <a:t>Need: an early-warning aid reading recent history, with understandable reasons.</a:t>
            </a:r>
          </a:p>
          <a:p>
            <a:pPr indent="0" marL="0">
              <a:lnSpc>
                <a:spcPct val="150000"/>
              </a:lnSpc>
              <a:buNone/>
            </a:pPr>
            <a:r>
              <a:rPr sz="2200" b="1">
                <a:solidFill>
                  <a:srgbClr val="000000"/>
                </a:solidFill>
                <a:latin typeface="Calibri"/>
              </a:rPr>
              <a:t>The challenge is to build and evaluate a real-time, explainable prototype without presenting it as a validated clinical device.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09728"/>
            <a:ext cx="1463040" cy="146304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87800" y="109728"/>
            <a:ext cx="1463040" cy="1463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073652" y="886054"/>
            <a:ext cx="12801600" cy="1234440"/>
          </a:xfrm>
          <a:prstGeom prst="rect">
            <a:avLst/>
          </a:prstGeom>
          <a:noFill/>
        </p:spPr>
        <p:txBody>
          <a:bodyPr wrap="square"/>
          <a:lstStyle/>
          <a:p>
            <a:pPr algn="ctr" indent="0" marL="0">
              <a:lnSpc>
                <a:spcPct val="150000"/>
              </a:lnSpc>
              <a:buNone/>
            </a:pPr>
            <a:r>
              <a:rPr sz="2000" b="1">
                <a:solidFill>
                  <a:srgbClr val="000000"/>
                </a:solidFill>
                <a:latin typeface="Calibri"/>
              </a:rPr>
              <a:t>P.A. COLLEGE OF ENGINEERING
</a:t>
            </a:r>
            <a:r>
              <a:rPr sz="2000" b="1">
                <a:solidFill>
                  <a:srgbClr val="000000"/>
                </a:solidFill>
                <a:latin typeface="Calibri"/>
              </a:rPr>
              <a:t>DEPARTMENT OF COMPUTER SCIENCE &amp;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79676"/>
            <a:ext cx="16459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 indent="0" marL="0">
              <a:buNone/>
            </a:pPr>
            <a:r>
              <a:rPr sz="3000" b="1">
                <a:solidFill>
                  <a:srgbClr val="1757AC"/>
                </a:solidFill>
                <a:latin typeface="Calibri"/>
              </a:rPr>
              <a:t>MOTIVATION / NEED FOR THE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295" y="3261665"/>
            <a:ext cx="16303752" cy="6035040"/>
          </a:xfrm>
          <a:prstGeom prst="rect">
            <a:avLst/>
          </a:prstGeom>
          <a:noFill/>
        </p:spPr>
        <p:txBody>
          <a:bodyPr wrap="square"/>
          <a:lstStyle/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sz="2200">
                <a:solidFill>
                  <a:srgbClr val="000000"/>
                </a:solidFill>
                <a:latin typeface="Calibri"/>
              </a:rPr>
              <a:t>ICU deterioration can progress rapidly, making early recognition important for timely clinical intervention.</a:t>
            </a:r>
          </a:p>
          <a:p>
            <a:pPr/>
            <a:r>
              <a:rPr sz="2200">
                <a:solidFill>
                  <a:srgbClr val="000000"/>
                </a:solidFill>
                <a:latin typeface="Calibri"/>
              </a:rPr>
              <a:t>Rule-based scores such as NEWS2 and SOFA use threshold-driven assessments and do not directly model longitudinal trends.</a:t>
            </a:r>
          </a:p>
          <a:p>
            <a:pPr/>
            <a:r>
              <a:rPr sz="2200">
                <a:solidFill>
                  <a:srgbClr val="000000"/>
                </a:solidFill>
                <a:latin typeface="Calibri"/>
              </a:rPr>
              <a:t>SynCura applies temporal deep learning to streaming-style vital and clinical measurements.</a:t>
            </a:r>
          </a:p>
          <a:p>
            <a:pPr/>
            <a:r>
              <a:rPr sz="2200">
                <a:solidFill>
                  <a:srgbClr val="000000"/>
                </a:solidFill>
                <a:latin typeface="Calibri"/>
              </a:rPr>
              <a:t>The project focuses on an explainable software prototype, not autonomous clinical decision-making.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09728"/>
            <a:ext cx="1463040" cy="146304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87800" y="109728"/>
            <a:ext cx="1463040" cy="1463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073652" y="886054"/>
            <a:ext cx="12801600" cy="1234440"/>
          </a:xfrm>
          <a:prstGeom prst="rect">
            <a:avLst/>
          </a:prstGeom>
          <a:noFill/>
        </p:spPr>
        <p:txBody>
          <a:bodyPr wrap="square"/>
          <a:lstStyle/>
          <a:p>
            <a:pPr algn="ctr" indent="0" marL="0">
              <a:lnSpc>
                <a:spcPct val="150000"/>
              </a:lnSpc>
              <a:buNone/>
            </a:pPr>
            <a:r>
              <a:rPr sz="2000" b="1">
                <a:solidFill>
                  <a:srgbClr val="000000"/>
                </a:solidFill>
                <a:latin typeface="Calibri"/>
              </a:rPr>
              <a:t>P.A. COLLEGE OF ENGINEERING
</a:t>
            </a:r>
            <a:r>
              <a:rPr sz="2000" b="1">
                <a:solidFill>
                  <a:srgbClr val="000000"/>
                </a:solidFill>
                <a:latin typeface="Calibri"/>
              </a:rPr>
              <a:t>DEPARTMENT OF COMPUTER SCIENCE &amp;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79676"/>
            <a:ext cx="16459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 indent="0" marL="0">
              <a:buNone/>
            </a:pPr>
            <a:r>
              <a:rPr sz="3000" b="1">
                <a:solidFill>
                  <a:srgbClr val="1757AC"/>
                </a:solidFill>
                <a:latin typeface="Calibri"/>
              </a:rPr>
              <a:t>EXISTING SYSTEM / RELATED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295" y="3261665"/>
            <a:ext cx="16303752" cy="6035040"/>
          </a:xfrm>
          <a:prstGeom prst="rect">
            <a:avLst/>
          </a:prstGeom>
          <a:noFill/>
        </p:spPr>
        <p:txBody>
          <a:bodyPr wrap="square"/>
          <a:lstStyle/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sz="1900">
                <a:latin typeface="Calibri"/>
              </a:rPr>
              <a:t>Base paper: Zheng et al. (2025) - Temporal-Branch Attention LSTM (TBAL), MIMIC-IV + eICU, dynamic AUROC ~0.936. SynCura adapts TBAL to PhysioNet 2012.</a:t>
            </a:r>
          </a:p>
          <a:p>
            <a:r>
              <a:rPr sz="1900">
                <a:latin typeface="Calibri"/>
              </a:rPr>
              <a:t>Support 1: Yan et al. (2026) - single LSTM, multi-centre ICU, AUC 0.802.</a:t>
            </a:r>
          </a:p>
          <a:p>
            <a:r>
              <a:rPr sz="1900">
                <a:latin typeface="Calibri"/>
              </a:rPr>
              <a:t>Support 2: Sadanandan (2026) - multimodal LSTM + ClinicalBERT, AUROC 0.786.</a:t>
            </a:r>
          </a:p>
          <a:p>
            <a:r>
              <a:rPr sz="1900">
                <a:latin typeface="Calibri"/>
              </a:rPr>
              <a:t>Support 3: Wu et al. (2024) - vital-signs-only LSTM, AUC 0.926.</a:t>
            </a:r>
          </a:p>
          <a:p>
            <a:r>
              <a:rPr sz="1900">
                <a:latin typeface="Calibri"/>
              </a:rPr>
              <a:t>Support 4: Xie et al. (2025) - RealMIP missing-data recovery, AUC 0.957-0.968.</a:t>
            </a:r>
          </a:p>
          <a:p>
            <a:r>
              <a:rPr sz="1900">
                <a:latin typeface="Calibri"/>
              </a:rPr>
              <a:t>Support 5: Choi et al. (2020) - interpretable BiLSTM early-warning, AUROC ~0.880.</a:t>
            </a:r>
          </a:p>
          <a:p>
            <a:r>
              <a:rPr sz="1900">
                <a:latin typeface="Calibri"/>
              </a:rPr>
              <a:t>Support 6: Scheid et al. (2025) - continuous wearable deep learning, AUROC ~0.890.</a:t>
            </a:r>
          </a:p>
          <a:p>
            <a:r>
              <a:rPr sz="1900">
                <a:latin typeface="Calibri"/>
              </a:rPr>
              <a:t>Support 7: Wang, Bai &amp; Jin (2026) - explainable LSTM, AUC 0.79-0.87.</a:t>
            </a:r>
          </a:p>
          <a:p>
            <a:r>
              <a:rPr sz="1900">
                <a:latin typeface="Calibri"/>
              </a:rPr>
              <a:t>Gap: models report single AUC only; few validate on unseen patients; none ship a real-time explainable risk path.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09728"/>
            <a:ext cx="1463040" cy="146304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87800" y="109728"/>
            <a:ext cx="1463040" cy="1463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073652" y="886054"/>
            <a:ext cx="12801600" cy="1234440"/>
          </a:xfrm>
          <a:prstGeom prst="rect">
            <a:avLst/>
          </a:prstGeom>
          <a:noFill/>
        </p:spPr>
        <p:txBody>
          <a:bodyPr wrap="square"/>
          <a:lstStyle/>
          <a:p>
            <a:pPr algn="ctr" indent="0" marL="0">
              <a:lnSpc>
                <a:spcPct val="150000"/>
              </a:lnSpc>
              <a:buNone/>
            </a:pPr>
            <a:r>
              <a:rPr sz="2000" b="1">
                <a:solidFill>
                  <a:srgbClr val="000000"/>
                </a:solidFill>
                <a:latin typeface="Calibri"/>
              </a:rPr>
              <a:t>P.A. COLLEGE OF ENGINEERING
</a:t>
            </a:r>
            <a:r>
              <a:rPr sz="2000" b="1">
                <a:solidFill>
                  <a:srgbClr val="000000"/>
                </a:solidFill>
                <a:latin typeface="Calibri"/>
              </a:rPr>
              <a:t>DEPARTMENT OF COMPUTER SCIENCE &amp;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79676"/>
            <a:ext cx="16459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 indent="0" marL="0">
              <a:buNone/>
            </a:pPr>
            <a:r>
              <a:rPr sz="3000" b="1">
                <a:solidFill>
                  <a:srgbClr val="1757AC"/>
                </a:solidFill>
                <a:latin typeface="Calibri"/>
              </a:rPr>
              <a:t>BASE PAPER / REFERENCE PAPER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295" y="3261665"/>
            <a:ext cx="16303752" cy="6035040"/>
          </a:xfrm>
          <a:prstGeom prst="rect">
            <a:avLst/>
          </a:prstGeom>
          <a:noFill/>
        </p:spPr>
        <p:txBody>
          <a:bodyPr wrap="square"/>
          <a:lstStyle/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sz="2100">
                <a:latin typeface="Calibri"/>
              </a:rPr>
              <a:t>Title: Development and Validation of a Dynamic Real-Time Risk Prediction Model for ICU Patients based on Longitudinal Irregular Data</a:t>
            </a:r>
          </a:p>
          <a:p>
            <a:r>
              <a:rPr sz="2100">
                <a:latin typeface="Calibri"/>
              </a:rPr>
              <a:t>Authors: Zheng et al. (2025) - JMIR vol. 27, e69293</a:t>
            </a:r>
          </a:p>
          <a:p>
            <a:r>
              <a:rPr sz="2100">
                <a:latin typeface="Calibri"/>
              </a:rPr>
              <a:t>Method: Temporal-Branch Attention LSTM (TBAL); longitudinal irregular EHR; MIMIC-IV + eICU</a:t>
            </a:r>
          </a:p>
          <a:p>
            <a:r>
              <a:rPr sz="2100">
                <a:latin typeface="Calibri"/>
              </a:rPr>
              <a:t>Dynamic AUROC ~0.936; static ~0.812; recall 79.1%</a:t>
            </a:r>
          </a:p>
          <a:p>
            <a:r>
              <a:rPr sz="2100">
                <a:latin typeface="Calibri"/>
              </a:rPr>
              <a:t>SynCura adapts TBAL: 90-min rolling window, 12 features, temporal attention, PhysioNet 2012</a:t>
            </a:r>
          </a:p>
          <a:p>
            <a:r>
              <a:rPr sz="2100">
                <a:latin typeface="Calibri"/>
              </a:rPr>
              <a:t>Caution - hindsight bias: with retrospective data till discharge AUROC rises to 0.989 (future info); cross-hospital drops to 0.81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09728"/>
            <a:ext cx="1463040" cy="146304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87800" y="109728"/>
            <a:ext cx="1463040" cy="1463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073652" y="886054"/>
            <a:ext cx="12801600" cy="1234440"/>
          </a:xfrm>
          <a:prstGeom prst="rect">
            <a:avLst/>
          </a:prstGeom>
          <a:noFill/>
        </p:spPr>
        <p:txBody>
          <a:bodyPr wrap="square"/>
          <a:lstStyle/>
          <a:p>
            <a:pPr algn="ctr" indent="0" marL="0">
              <a:lnSpc>
                <a:spcPct val="150000"/>
              </a:lnSpc>
              <a:buNone/>
            </a:pPr>
            <a:r>
              <a:rPr sz="2000" b="1">
                <a:solidFill>
                  <a:srgbClr val="000000"/>
                </a:solidFill>
                <a:latin typeface="Calibri"/>
              </a:rPr>
              <a:t>P.A. COLLEGE OF ENGINEERING
</a:t>
            </a:r>
            <a:r>
              <a:rPr sz="2000" b="1">
                <a:solidFill>
                  <a:srgbClr val="000000"/>
                </a:solidFill>
                <a:latin typeface="Calibri"/>
              </a:rPr>
              <a:t>DEPARTMENT OF COMPUTER SCIENCE &amp;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79676"/>
            <a:ext cx="16459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 indent="0" marL="0">
              <a:buNone/>
            </a:pPr>
            <a:r>
              <a:rPr sz="3000" b="1">
                <a:solidFill>
                  <a:srgbClr val="1757AC"/>
                </a:solidFill>
                <a:latin typeface="Calibri"/>
              </a:rPr>
              <a:t>PROPOSED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295" y="3261665"/>
            <a:ext cx="11873493" cy="6035040"/>
          </a:xfrm>
          <a:prstGeom prst="rect">
            <a:avLst/>
          </a:prstGeom>
          <a:noFill/>
        </p:spPr>
        <p:txBody>
          <a:bodyPr wrap="square"/>
          <a:lstStyle/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sz="1900">
                <a:latin typeface="Calibri"/>
              </a:rPr>
              <a:t>Idea: attention-based LSTM over a rolling 90-minute window of 12 clinical features -&gt; 0-100 risk score with an explanation panel</a:t>
            </a:r>
          </a:p>
          <a:p>
            <a:r>
              <a:rPr sz="1900">
                <a:latin typeface="Calibri"/>
              </a:rPr>
              <a:t>Evaluation honesty: reports what papers skip - false alarms, sensitivity, specificity, precision, lead time, vs NEWS2</a:t>
            </a:r>
          </a:p>
          <a:p>
            <a:r>
              <a:rPr sz="1900">
                <a:latin typeface="Calibri"/>
              </a:rPr>
              <a:t>Consistent generalization: unseen 20% set-B holdout AUC 0.844 (95% CI 0.836-0.852) vs validation 0.840</a:t>
            </a:r>
          </a:p>
          <a:p>
            <a:r>
              <a:rPr sz="1900">
                <a:latin typeface="Calibri"/>
              </a:rPr>
              <a:t>Deployable path: FastAPI alerting, HTTP/MQTT ingestion; misses/false alarms queue into weighted retraining</a:t>
            </a:r>
          </a:p>
        </p:txBody>
      </p:sp>
      <p:pic>
        <p:nvPicPr>
          <p:cNvPr id="7" name="Picture 6" descr="sh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00948" y="4160520"/>
            <a:ext cx="4967012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09728"/>
            <a:ext cx="1463040" cy="146304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87800" y="109728"/>
            <a:ext cx="1463040" cy="1463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073652" y="886054"/>
            <a:ext cx="12801600" cy="1234440"/>
          </a:xfrm>
          <a:prstGeom prst="rect">
            <a:avLst/>
          </a:prstGeom>
          <a:noFill/>
        </p:spPr>
        <p:txBody>
          <a:bodyPr wrap="square"/>
          <a:lstStyle/>
          <a:p>
            <a:pPr algn="ctr" indent="0" marL="0">
              <a:lnSpc>
                <a:spcPct val="150000"/>
              </a:lnSpc>
              <a:buNone/>
            </a:pPr>
            <a:r>
              <a:rPr sz="2000" b="1">
                <a:solidFill>
                  <a:srgbClr val="000000"/>
                </a:solidFill>
                <a:latin typeface="Calibri"/>
              </a:rPr>
              <a:t>P.A. COLLEGE OF ENGINEERING
</a:t>
            </a:r>
            <a:r>
              <a:rPr sz="2000" b="1">
                <a:solidFill>
                  <a:srgbClr val="000000"/>
                </a:solidFill>
                <a:latin typeface="Calibri"/>
              </a:rPr>
              <a:t>DEPARTMENT OF COMPUTER SCIENCE &amp;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79676"/>
            <a:ext cx="16459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 indent="0" marL="0">
              <a:buNone/>
            </a:pPr>
            <a:r>
              <a:rPr sz="3000" b="1">
                <a:solidFill>
                  <a:srgbClr val="1757AC"/>
                </a:solidFill>
                <a:latin typeface="Calibri"/>
              </a:rPr>
              <a:t>METHODOLOGY / PROPOSED APPROACH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3977639"/>
            <a:ext cx="2606040" cy="214884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1757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757AC"/>
                </a:solidFill>
                <a:latin typeface="Calibri"/>
              </a:rPr>
              <a:t>1 · DATA</a:t>
            </a:r>
          </a:p>
          <a:p>
            <a:pPr algn="ctr">
              <a:spcBef>
                <a:spcPts val="600"/>
              </a:spcBef>
            </a:pPr>
            <a:r>
              <a:rPr sz="1500">
                <a:solidFill>
                  <a:srgbClr val="000000"/>
                </a:solidFill>
                <a:latin typeface="Calibri"/>
              </a:rPr>
              <a:t>PhysioNet 2012
12 vitals + labs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712464" y="4850892"/>
            <a:ext cx="457200" cy="402336"/>
          </a:xfrm>
          <a:prstGeom prst="rightArrow">
            <a:avLst/>
          </a:prstGeom>
          <a:solidFill>
            <a:srgbClr val="175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24528" y="3977639"/>
            <a:ext cx="2606040" cy="214884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1757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757AC"/>
                </a:solidFill>
                <a:latin typeface="Calibri"/>
              </a:rPr>
              <a:t>2 · PREPARE</a:t>
            </a:r>
          </a:p>
          <a:p>
            <a:pPr algn="ctr">
              <a:spcBef>
                <a:spcPts val="600"/>
              </a:spcBef>
            </a:pPr>
            <a:r>
              <a:rPr sz="1500">
                <a:solidFill>
                  <a:srgbClr val="000000"/>
                </a:solidFill>
                <a:latin typeface="Calibri"/>
              </a:rPr>
              <a:t>Interpolate
Train-only z-score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885432" y="4850892"/>
            <a:ext cx="457200" cy="402336"/>
          </a:xfrm>
          <a:prstGeom prst="rightArrow">
            <a:avLst/>
          </a:prstGeom>
          <a:solidFill>
            <a:srgbClr val="175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97496" y="3977639"/>
            <a:ext cx="2606040" cy="214884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1757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757AC"/>
                </a:solidFill>
                <a:latin typeface="Calibri"/>
              </a:rPr>
              <a:t>3 · WINDOW</a:t>
            </a:r>
          </a:p>
          <a:p>
            <a:pPr algn="ctr">
              <a:spcBef>
                <a:spcPts val="600"/>
              </a:spcBef>
            </a:pPr>
            <a:r>
              <a:rPr sz="1500">
                <a:solidFill>
                  <a:srgbClr val="000000"/>
                </a:solidFill>
                <a:latin typeface="Calibri"/>
              </a:rPr>
              <a:t>90-min rolling
Stride 15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0058400" y="4850892"/>
            <a:ext cx="457200" cy="402336"/>
          </a:xfrm>
          <a:prstGeom prst="rightArrow">
            <a:avLst/>
          </a:prstGeom>
          <a:solidFill>
            <a:srgbClr val="175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570464" y="3977639"/>
            <a:ext cx="2606040" cy="214884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1757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757AC"/>
                </a:solidFill>
                <a:latin typeface="Calibri"/>
              </a:rPr>
              <a:t>4 · MODEL</a:t>
            </a:r>
          </a:p>
          <a:p>
            <a:pPr algn="ctr">
              <a:spcBef>
                <a:spcPts val="600"/>
              </a:spcBef>
            </a:pPr>
            <a:r>
              <a:rPr sz="1500">
                <a:solidFill>
                  <a:srgbClr val="000000"/>
                </a:solidFill>
                <a:latin typeface="Calibri"/>
              </a:rPr>
              <a:t>LSTM-96 + attention
Risk 0–100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3231368" y="4850892"/>
            <a:ext cx="457200" cy="402336"/>
          </a:xfrm>
          <a:prstGeom prst="rightArrow">
            <a:avLst/>
          </a:prstGeom>
          <a:solidFill>
            <a:srgbClr val="175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3743432" y="3977639"/>
            <a:ext cx="2606040" cy="214884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1757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757AC"/>
                </a:solidFill>
                <a:latin typeface="Calibri"/>
              </a:rPr>
              <a:t>5 · SERVE</a:t>
            </a:r>
          </a:p>
          <a:p>
            <a:pPr algn="ctr">
              <a:spcBef>
                <a:spcPts val="600"/>
              </a:spcBef>
            </a:pPr>
            <a:r>
              <a:rPr sz="1500">
                <a:solidFill>
                  <a:srgbClr val="000000"/>
                </a:solidFill>
                <a:latin typeface="Calibri"/>
              </a:rPr>
              <a:t>FastAPI + dashboard
SHAP explains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6629400"/>
            <a:ext cx="152979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i="1">
                <a:solidFill>
                  <a:srgbClr val="444444"/>
                </a:solidFill>
                <a:latin typeface="Calibri"/>
              </a:rPr>
              <a:t>Leakage controls: train-only stats · patient-level split · past-only windows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09728"/>
            <a:ext cx="1463040" cy="146304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87800" y="109728"/>
            <a:ext cx="1463040" cy="1463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073652" y="886054"/>
            <a:ext cx="12801600" cy="1234440"/>
          </a:xfrm>
          <a:prstGeom prst="rect">
            <a:avLst/>
          </a:prstGeom>
          <a:noFill/>
        </p:spPr>
        <p:txBody>
          <a:bodyPr wrap="square"/>
          <a:lstStyle/>
          <a:p>
            <a:pPr algn="ctr" indent="0" marL="0">
              <a:lnSpc>
                <a:spcPct val="150000"/>
              </a:lnSpc>
              <a:buNone/>
            </a:pPr>
            <a:r>
              <a:rPr sz="2000" b="1">
                <a:solidFill>
                  <a:srgbClr val="000000"/>
                </a:solidFill>
                <a:latin typeface="Calibri"/>
              </a:rPr>
              <a:t>P.A. COLLEGE OF ENGINEERING
</a:t>
            </a:r>
            <a:r>
              <a:rPr sz="2000" b="1">
                <a:solidFill>
                  <a:srgbClr val="000000"/>
                </a:solidFill>
                <a:latin typeface="Calibri"/>
              </a:rPr>
              <a:t>DEPARTMENT OF COMPUTER SCIENCE &amp;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79676"/>
            <a:ext cx="16459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 indent="0" marL="0">
              <a:buNone/>
            </a:pPr>
            <a:r>
              <a:rPr sz="3000" b="1">
                <a:solidFill>
                  <a:srgbClr val="1757AC"/>
                </a:solidFill>
                <a:latin typeface="Calibri"/>
              </a:rPr>
              <a:t>EXPECTED OUTCOME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295" y="3261665"/>
            <a:ext cx="16303752" cy="6035040"/>
          </a:xfrm>
          <a:prstGeom prst="rect">
            <a:avLst/>
          </a:prstGeom>
          <a:noFill/>
        </p:spPr>
        <p:txBody>
          <a:bodyPr wrap="square"/>
          <a:lstStyle/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sz="2000">
                <a:latin typeface="Calibri"/>
              </a:rPr>
              <a:t>Reduced ICU false alarms and clinician alert fatigue</a:t>
            </a:r>
          </a:p>
          <a:p>
            <a:r>
              <a:rPr sz="2000">
                <a:latin typeface="Calibri"/>
              </a:rPr>
              <a:t>Early, actionable deterioration alerts - before cardiac arrest / ICU transfer</a:t>
            </a:r>
          </a:p>
          <a:p>
            <a:r>
              <a:rPr sz="2000">
                <a:latin typeface="Calibri"/>
              </a:rPr>
              <a:t>Explanations (attention + SHAP) build clinician trust, unlike black-box alerts</a:t>
            </a:r>
          </a:p>
          <a:p>
            <a:r>
              <a:rPr sz="2000">
                <a:latin typeface="Calibri"/>
              </a:rPr>
              <a:t>Cost savings: shorter ICU stays, fewer unplanned readmissions</a:t>
            </a:r>
          </a:p>
          <a:p>
            <a:r>
              <a:rPr sz="2000">
                <a:latin typeface="Calibri"/>
              </a:rPr>
              <a:t>Retraining loop absorbs new hospital data continuously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09728"/>
            <a:ext cx="1463040" cy="146304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87800" y="109728"/>
            <a:ext cx="1463040" cy="1463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073652" y="886054"/>
            <a:ext cx="12801600" cy="1234440"/>
          </a:xfrm>
          <a:prstGeom prst="rect">
            <a:avLst/>
          </a:prstGeom>
          <a:noFill/>
        </p:spPr>
        <p:txBody>
          <a:bodyPr wrap="square"/>
          <a:lstStyle/>
          <a:p>
            <a:pPr algn="ctr" indent="0" marL="0">
              <a:lnSpc>
                <a:spcPct val="150000"/>
              </a:lnSpc>
              <a:buNone/>
            </a:pPr>
            <a:r>
              <a:rPr sz="2000" b="1">
                <a:solidFill>
                  <a:srgbClr val="000000"/>
                </a:solidFill>
                <a:latin typeface="Calibri"/>
              </a:rPr>
              <a:t>P.A. COLLEGE OF ENGINEERING
</a:t>
            </a:r>
            <a:r>
              <a:rPr sz="2000" b="1">
                <a:solidFill>
                  <a:srgbClr val="000000"/>
                </a:solidFill>
                <a:latin typeface="Calibri"/>
              </a:rPr>
              <a:t>DEPARTMENT OF COMPUTER SCIENCE &amp;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79676"/>
            <a:ext cx="16459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 indent="0" marL="0">
              <a:buNone/>
            </a:pPr>
            <a:r>
              <a:rPr sz="3000" b="1">
                <a:solidFill>
                  <a:srgbClr val="1757AC"/>
                </a:solidFill>
                <a:latin typeface="Calibri"/>
              </a:rPr>
              <a:t>EXPERIMENTAL RESULT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3566160"/>
            <a:ext cx="8229600" cy="3840480"/>
          </a:xfrm>
          <a:prstGeom prst="rect">
            <a:avLst/>
          </a:prstGeom>
          <a:noFill/>
        </p:spPr>
        <p:txBody>
          <a:bodyPr wrap="square"/>
          <a:lstStyle/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sz="2000">
                <a:latin typeface="Calibri"/>
              </a:rPr>
              <a:t>Ensemble: 3 LSTMs (s48, c93, s45) - logit-averaged exactly as deployed, same scaler as the backend</a:t>
            </a:r>
          </a:p>
          <a:p>
            <a:r>
              <a:rPr sz="2000">
                <a:latin typeface="Calibri"/>
              </a:rPr>
              <a:t>Fresh unseen holdout (20% of set-B, never in training): AUC 0.844 (95% CI 0.836-0.852) vs validation 0.840 - consistent, not overfit</a:t>
            </a:r>
          </a:p>
        </p:txBody>
      </p:sp>
      <p:pic>
        <p:nvPicPr>
          <p:cNvPr id="8" name="Picture 7" descr="ro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2597" y="5074920"/>
            <a:ext cx="4480560" cy="3920490"/>
          </a:xfrm>
          <a:prstGeom prst="rect">
            <a:avLst/>
          </a:prstGeom>
        </p:spPr>
      </p:pic>
      <p:pic>
        <p:nvPicPr>
          <p:cNvPr id="9" name="Picture 8" descr="metrics_tab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0357" y="5394960"/>
            <a:ext cx="5205046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09728"/>
            <a:ext cx="1463040" cy="146304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87800" y="109728"/>
            <a:ext cx="1463040" cy="1463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073652" y="886054"/>
            <a:ext cx="12801600" cy="1234440"/>
          </a:xfrm>
          <a:prstGeom prst="rect">
            <a:avLst/>
          </a:prstGeom>
          <a:noFill/>
        </p:spPr>
        <p:txBody>
          <a:bodyPr wrap="square"/>
          <a:lstStyle/>
          <a:p>
            <a:pPr algn="ctr" indent="0" marL="0">
              <a:lnSpc>
                <a:spcPct val="150000"/>
              </a:lnSpc>
              <a:buNone/>
            </a:pPr>
            <a:r>
              <a:rPr sz="2000" b="1">
                <a:solidFill>
                  <a:srgbClr val="000000"/>
                </a:solidFill>
                <a:latin typeface="Calibri"/>
              </a:rPr>
              <a:t>P.A. COLLEGE OF ENGINEERING
</a:t>
            </a:r>
            <a:r>
              <a:rPr sz="2000" b="1">
                <a:solidFill>
                  <a:srgbClr val="000000"/>
                </a:solidFill>
                <a:latin typeface="Calibri"/>
              </a:rPr>
              <a:t>DEPARTMENT OF COMPUTER SCIENCE &amp;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79676"/>
            <a:ext cx="16459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 indent="0" marL="0">
              <a:buNone/>
            </a:pPr>
            <a:r>
              <a:rPr sz="3000" b="1">
                <a:solidFill>
                  <a:srgbClr val="1757AC"/>
                </a:solidFill>
                <a:latin typeface="Calibri"/>
              </a:rPr>
              <a:t>LIMITATIONS &amp; IMPROVEMENT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295" y="3261665"/>
            <a:ext cx="16303752" cy="6035040"/>
          </a:xfrm>
          <a:prstGeom prst="rect">
            <a:avLst/>
          </a:prstGeom>
          <a:noFill/>
        </p:spPr>
        <p:txBody>
          <a:bodyPr wrap="square"/>
          <a:lstStyle/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sz="2000">
                <a:latin typeface="Calibri"/>
              </a:rPr>
              <a:t>Base-paper ceiling: 0.936 dynamic, but 0.989 only at discharge (hindsight bias); cross-hospital AUROC falls to 0.81/0.76; no prospective trial</a:t>
            </a:r>
          </a:p>
          <a:p>
            <a:r>
              <a:rPr sz="2000">
                <a:latin typeface="Calibri"/>
              </a:rPr>
              <a:t>Our stricter bar: 90-min window only, no future info; unseen holdout AUC 0.844 (95% CI 0.836-0.852) vs 0.840 validation - consistent, not overfit</a:t>
            </a:r>
          </a:p>
          <a:p>
            <a:r>
              <a:rPr sz="2000">
                <a:latin typeface="Calibri"/>
              </a:rPr>
              <a:t>Reported what papers often skip: false-alarm rate, specificity, precision, F1, lead time vs NEWS2, calibration</a:t>
            </a:r>
          </a:p>
          <a:p>
            <a:r>
              <a:rPr sz="2000">
                <a:latin typeface="Calibri"/>
              </a:rPr>
              <a:t>Scouted next steps: eICU/MIMIC external validation; generative missing-data recovery; time-aware attention; prospective clinical pilot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09728"/>
            <a:ext cx="1463040" cy="146304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87800" y="109728"/>
            <a:ext cx="1463040" cy="1463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073652" y="886054"/>
            <a:ext cx="12801600" cy="1234440"/>
          </a:xfrm>
          <a:prstGeom prst="rect">
            <a:avLst/>
          </a:prstGeom>
          <a:noFill/>
        </p:spPr>
        <p:txBody>
          <a:bodyPr wrap="square"/>
          <a:lstStyle/>
          <a:p>
            <a:pPr algn="ctr" indent="0" marL="0">
              <a:lnSpc>
                <a:spcPct val="150000"/>
              </a:lnSpc>
              <a:buNone/>
            </a:pPr>
            <a:r>
              <a:rPr sz="2000" b="1">
                <a:solidFill>
                  <a:srgbClr val="000000"/>
                </a:solidFill>
                <a:latin typeface="Calibri"/>
              </a:rPr>
              <a:t>P.A. COLLEGE OF ENGINEERING
</a:t>
            </a:r>
            <a:r>
              <a:rPr sz="2000" b="1">
                <a:solidFill>
                  <a:srgbClr val="000000"/>
                </a:solidFill>
                <a:latin typeface="Calibri"/>
              </a:rPr>
              <a:t>DEPARTMENT OF COMPUTER SCIENCE &amp;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79676"/>
            <a:ext cx="16459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 indent="0" marL="0">
              <a:buNone/>
            </a:pPr>
            <a:r>
              <a:rPr sz="3000" b="1">
                <a:solidFill>
                  <a:srgbClr val="1757AC"/>
                </a:solidFill>
                <a:latin typeface="Calibri"/>
              </a:rPr>
              <a:t>TECHNOLOGY / TOOLS REQUIRED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295" y="3261665"/>
            <a:ext cx="16303752" cy="6035040"/>
          </a:xfrm>
          <a:prstGeom prst="rect">
            <a:avLst/>
          </a:prstGeom>
          <a:noFill/>
        </p:spPr>
        <p:txBody>
          <a:bodyPr wrap="square"/>
          <a:lstStyle/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sz="2000">
                <a:latin typeface="Calibri"/>
              </a:rPr>
              <a:t>Backend: Python 3.10, FastAPI, uvicorn, NumPy, scikit-learn, PyTorch</a:t>
            </a:r>
          </a:p>
          <a:p>
            <a:r>
              <a:rPr sz="2000">
                <a:latin typeface="Calibri"/>
              </a:rPr>
              <a:t>Two LSTM hidden layers (96 units) + Temporal Attention</a:t>
            </a:r>
          </a:p>
          <a:p>
            <a:r>
              <a:rPr sz="2000">
                <a:latin typeface="Calibri"/>
              </a:rPr>
              <a:t>Microservices: FastAPI real-time backend, React + Vite frontend</a:t>
            </a:r>
          </a:p>
          <a:p>
            <a:r>
              <a:rPr sz="2000">
                <a:latin typeface="Calibri"/>
              </a:rPr>
              <a:t>Edge/stream ingestion: MQTT with Eclipse Mosquitto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6355080"/>
            <a:ext cx="3246120" cy="224028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1757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757AC"/>
                </a:solidFill>
                <a:latin typeface="Calibri"/>
              </a:rPr>
              <a:t>SENSE</a:t>
            </a:r>
          </a:p>
          <a:p>
            <a:pPr algn="ctr">
              <a:spcBef>
                <a:spcPts val="600"/>
              </a:spcBef>
            </a:pPr>
            <a:r>
              <a:rPr sz="1500">
                <a:solidFill>
                  <a:srgbClr val="000000"/>
                </a:solidFill>
                <a:latin typeface="Calibri"/>
              </a:rPr>
              <a:t>ESP32 + MAX30105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370832" y="7274052"/>
            <a:ext cx="539496" cy="402336"/>
          </a:xfrm>
          <a:prstGeom prst="rightArrow">
            <a:avLst/>
          </a:prstGeom>
          <a:solidFill>
            <a:srgbClr val="175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83480" y="6355080"/>
            <a:ext cx="3246120" cy="224028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1757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757AC"/>
                </a:solidFill>
                <a:latin typeface="Calibri"/>
              </a:rPr>
              <a:t>INGEST</a:t>
            </a:r>
          </a:p>
          <a:p>
            <a:pPr algn="ctr">
              <a:spcBef>
                <a:spcPts val="600"/>
              </a:spcBef>
            </a:pPr>
            <a:r>
              <a:rPr sz="1500">
                <a:solidFill>
                  <a:srgbClr val="000000"/>
                </a:solidFill>
                <a:latin typeface="Calibri"/>
              </a:rPr>
              <a:t>FastAPI + SQLite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302752" y="7274052"/>
            <a:ext cx="539496" cy="402336"/>
          </a:xfrm>
          <a:prstGeom prst="rightArrow">
            <a:avLst/>
          </a:prstGeom>
          <a:solidFill>
            <a:srgbClr val="175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915400" y="6355080"/>
            <a:ext cx="3246120" cy="224028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1757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757AC"/>
                </a:solidFill>
                <a:latin typeface="Calibri"/>
              </a:rPr>
              <a:t>SCORE</a:t>
            </a:r>
          </a:p>
          <a:p>
            <a:pPr algn="ctr">
              <a:spcBef>
                <a:spcPts val="600"/>
              </a:spcBef>
            </a:pPr>
            <a:r>
              <a:rPr sz="1500">
                <a:solidFill>
                  <a:srgbClr val="000000"/>
                </a:solidFill>
                <a:latin typeface="Calibri"/>
              </a:rPr>
              <a:t>AttentionLSTM 0–100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12234672" y="7274052"/>
            <a:ext cx="539496" cy="402336"/>
          </a:xfrm>
          <a:prstGeom prst="rightArrow">
            <a:avLst/>
          </a:prstGeom>
          <a:solidFill>
            <a:srgbClr val="175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2847320" y="6355080"/>
            <a:ext cx="3246120" cy="224028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1757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757AC"/>
                </a:solidFill>
                <a:latin typeface="Calibri"/>
              </a:rPr>
              <a:t>ACT</a:t>
            </a:r>
          </a:p>
          <a:p>
            <a:pPr algn="ctr">
              <a:spcBef>
                <a:spcPts val="600"/>
              </a:spcBef>
            </a:pPr>
            <a:r>
              <a:rPr sz="1500">
                <a:solidFill>
                  <a:srgbClr val="000000"/>
                </a:solidFill>
                <a:latin typeface="Calibri"/>
              </a:rPr>
              <a:t>Dashboard + alerts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09728"/>
            <a:ext cx="1463040" cy="146304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87800" y="109728"/>
            <a:ext cx="1463040" cy="1463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073652" y="886054"/>
            <a:ext cx="12801600" cy="1234440"/>
          </a:xfrm>
          <a:prstGeom prst="rect">
            <a:avLst/>
          </a:prstGeom>
          <a:noFill/>
        </p:spPr>
        <p:txBody>
          <a:bodyPr wrap="square"/>
          <a:lstStyle/>
          <a:p>
            <a:pPr algn="ctr" indent="0" marL="0">
              <a:lnSpc>
                <a:spcPct val="150000"/>
              </a:lnSpc>
              <a:buNone/>
            </a:pPr>
            <a:r>
              <a:rPr sz="2000" b="1">
                <a:solidFill>
                  <a:srgbClr val="000000"/>
                </a:solidFill>
                <a:latin typeface="Calibri"/>
              </a:rPr>
              <a:t>P.A. COLLEGE OF ENGINEERING
</a:t>
            </a:r>
            <a:r>
              <a:rPr sz="2000" b="1">
                <a:solidFill>
                  <a:srgbClr val="000000"/>
                </a:solidFill>
                <a:latin typeface="Calibri"/>
              </a:rPr>
              <a:t>DEPARTMENT OF COMPUTER SCIENCE &amp;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79676"/>
            <a:ext cx="16459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 indent="0" marL="0">
              <a:buNone/>
            </a:pPr>
            <a:r>
              <a:rPr sz="3000" b="1">
                <a:solidFill>
                  <a:srgbClr val="1757AC"/>
                </a:solidFill>
                <a:latin typeface="Calibri"/>
              </a:rPr>
              <a:t>SDG RELEVANCE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295" y="3261665"/>
            <a:ext cx="16303752" cy="6035040"/>
          </a:xfrm>
          <a:prstGeom prst="rect">
            <a:avLst/>
          </a:prstGeom>
          <a:noFill/>
        </p:spPr>
        <p:txBody>
          <a:bodyPr wrap="square"/>
          <a:lstStyle/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sz="2100">
                <a:solidFill>
                  <a:srgbClr val="000000"/>
                </a:solidFill>
                <a:latin typeface="Calibri"/>
              </a:rPr>
              <a:t>SDG 3 - Good Health and Well-Being: earlier detection of ICU deterioration supports timely clinical review and better patient monitoring.</a:t>
            </a:r>
          </a:p>
          <a:p>
            <a:pPr/>
            <a:r>
              <a:rPr sz="2100">
                <a:solidFill>
                  <a:srgbClr val="000000"/>
                </a:solidFill>
                <a:latin typeface="Calibri"/>
              </a:rPr>
              <a:t>SDG 9 - Industry, Innovation and Infrastructure: explainable deep learning integrated into a modern monitoring workflow - ML, APIs, visualization, and sensor-ready architecture.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09728"/>
            <a:ext cx="1463040" cy="146304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87800" y="109728"/>
            <a:ext cx="1463040" cy="1463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073652" y="886054"/>
            <a:ext cx="12801600" cy="1234440"/>
          </a:xfrm>
          <a:prstGeom prst="rect">
            <a:avLst/>
          </a:prstGeom>
          <a:noFill/>
        </p:spPr>
        <p:txBody>
          <a:bodyPr wrap="square"/>
          <a:lstStyle/>
          <a:p>
            <a:pPr algn="ctr" indent="0" marL="0">
              <a:lnSpc>
                <a:spcPct val="150000"/>
              </a:lnSpc>
              <a:buNone/>
            </a:pPr>
            <a:r>
              <a:rPr sz="2000" b="1">
                <a:solidFill>
                  <a:srgbClr val="000000"/>
                </a:solidFill>
                <a:latin typeface="Calibri"/>
              </a:rPr>
              <a:t>P.A. COLLEGE OF ENGINEERING
</a:t>
            </a:r>
            <a:r>
              <a:rPr sz="2000" b="1">
                <a:solidFill>
                  <a:srgbClr val="000000"/>
                </a:solidFill>
                <a:latin typeface="Calibri"/>
              </a:rPr>
              <a:t>DEPARTMENT OF COMPUTER SCIENCE &amp;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79676"/>
            <a:ext cx="16459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 indent="0" marL="0">
              <a:buNone/>
            </a:pPr>
            <a:r>
              <a:rPr sz="3000" b="1">
                <a:solidFill>
                  <a:srgbClr val="1757AC"/>
                </a:solidFill>
                <a:latin typeface="Calibri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295" y="3261665"/>
            <a:ext cx="16303752" cy="6035040"/>
          </a:xfrm>
          <a:prstGeom prst="rect">
            <a:avLst/>
          </a:prstGeom>
          <a:noFill/>
        </p:spPr>
        <p:txBody>
          <a:bodyPr wrap="square"/>
          <a:lstStyle/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sz="2100">
                <a:solidFill>
                  <a:srgbClr val="000000"/>
                </a:solidFill>
                <a:latin typeface="Calibri"/>
              </a:rPr>
              <a:t>SynCura demonstrates an end-to-end explainable ICU risk-monitoring workflow from clinical time-series input to dashboard output.</a:t>
            </a:r>
          </a:p>
          <a:p>
            <a:pPr/>
            <a:r>
              <a:rPr sz="2100">
                <a:solidFill>
                  <a:srgbClr val="000000"/>
                </a:solidFill>
                <a:latin typeface="Calibri"/>
              </a:rPr>
              <a:t>Temporal attention and SHAP provide an interpretable view of which time steps and features influenced the prediction.</a:t>
            </a:r>
          </a:p>
          <a:p>
            <a:pPr/>
            <a:r>
              <a:rPr sz="2100">
                <a:solidFill>
                  <a:srgbClr val="000000"/>
                </a:solidFill>
                <a:latin typeface="Calibri"/>
              </a:rPr>
              <a:t>The deployed ensemble achieved 0.840 validation AUC and 0.844 set-B holdout AUC.</a:t>
            </a:r>
          </a:p>
          <a:p>
            <a:pPr/>
            <a:r>
              <a:rPr sz="2100">
                <a:solidFill>
                  <a:srgbClr val="000000"/>
                </a:solidFill>
                <a:latin typeface="Calibri"/>
              </a:rPr>
              <a:t>These results support the prototype concept, while further clinical and external validation is required before real-world use.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09728"/>
            <a:ext cx="1463040" cy="146304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87800" y="109728"/>
            <a:ext cx="1463040" cy="1463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073652" y="886054"/>
            <a:ext cx="12801600" cy="1234440"/>
          </a:xfrm>
          <a:prstGeom prst="rect">
            <a:avLst/>
          </a:prstGeom>
          <a:noFill/>
        </p:spPr>
        <p:txBody>
          <a:bodyPr wrap="square"/>
          <a:lstStyle/>
          <a:p>
            <a:pPr algn="ctr" indent="0" marL="0">
              <a:lnSpc>
                <a:spcPct val="150000"/>
              </a:lnSpc>
              <a:buNone/>
            </a:pPr>
            <a:r>
              <a:rPr sz="2000" b="1">
                <a:solidFill>
                  <a:srgbClr val="000000"/>
                </a:solidFill>
                <a:latin typeface="Calibri"/>
              </a:rPr>
              <a:t>P.A. COLLEGE OF ENGINEERING
</a:t>
            </a:r>
            <a:r>
              <a:rPr sz="2000" b="1">
                <a:solidFill>
                  <a:srgbClr val="000000"/>
                </a:solidFill>
                <a:latin typeface="Calibri"/>
              </a:rPr>
              <a:t>DEPARTMENT OF COMPUTER SCIENCE &amp;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79676"/>
            <a:ext cx="16459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 indent="0" marL="0">
              <a:buNone/>
            </a:pPr>
            <a:r>
              <a:rPr sz="3000" b="1">
                <a:solidFill>
                  <a:srgbClr val="1757AC"/>
                </a:solidFill>
                <a:latin typeface="Calibri"/>
              </a:rPr>
              <a:t>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295" y="3261665"/>
            <a:ext cx="16303752" cy="6035040"/>
          </a:xfrm>
          <a:prstGeom prst="rect">
            <a:avLst/>
          </a:prstGeom>
          <a:noFill/>
        </p:spPr>
        <p:txBody>
          <a:bodyPr wrap="square"/>
          <a:lstStyle/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sz="1500">
                <a:latin typeface="Calibri"/>
              </a:rPr>
              <a:t>[1] Zheng et al. (2025): Development and Validation of a Dynamic Real-Time Risk Prediction Model for ICU Patients Based on Longitudinal Irregular Data: Multicenter Retrospective Study. JMIR 27:e69293.</a:t>
            </a:r>
          </a:p>
          <a:p>
            <a:r>
              <a:rPr sz="1500">
                <a:latin typeface="Calibri"/>
              </a:rPr>
              <a:t>[2] Wang, Bai &amp; Jin (2026): Explainable Deep-Learning Models for Predicting ICU Patient Outcome. Frontiers in Physiology 17.</a:t>
            </a:r>
          </a:p>
          <a:p>
            <a:r>
              <a:rPr sz="1500">
                <a:latin typeface="Calibri"/>
              </a:rPr>
              <a:t>[3] Yan et al. (2026): Deep Learning-Based In-Hospital Mortality Prediction Using Long-Term Sequential Data in ICU Patients. PeerJ 14:e21631.</a:t>
            </a:r>
          </a:p>
          <a:p>
            <a:r>
              <a:rPr sz="1500">
                <a:latin typeface="Calibri"/>
              </a:rPr>
              <a:t>[4] Sadanandan (2026): Multimodal Deep Learning for Early Prediction of Patient Deterioration in the ICU: Integrating Time-Series EHR Data with Clinical Notes. arXiv:2603.14719.</a:t>
            </a:r>
          </a:p>
          <a:p>
            <a:r>
              <a:rPr sz="1500">
                <a:latin typeface="Calibri"/>
              </a:rPr>
              <a:t>[5] Wu et al. (2024): Revisiting the Potential Value of Vital Signs in the Real-Time Prediction of Mortality Risk in ICU Patients. J Big Data 11:40.</a:t>
            </a:r>
          </a:p>
          <a:p>
            <a:r>
              <a:rPr sz="1500">
                <a:latin typeface="Calibri"/>
              </a:rPr>
              <a:t>[6] Xie et al. (2025): Unlocking the Potential of Real-Time ICU Mortality Prediction: Redefining Risk Assessment with Continuous Data Recovery. npj Digital Medicine 8:733.</a:t>
            </a:r>
          </a:p>
          <a:p>
            <a:r>
              <a:rPr sz="1500">
                <a:latin typeface="Calibri"/>
              </a:rPr>
              <a:t>[7] Choi et al. (2020): Deep Interpretable Early Warning System for the Detection of Clinical Deterioration. IEEE J-BHI 24(9).</a:t>
            </a:r>
          </a:p>
          <a:p>
            <a:r>
              <a:rPr sz="1500">
                <a:latin typeface="Calibri"/>
              </a:rPr>
              <a:t>[8] Scheid et al. (2025): Development and Validation of a Clinical Wearable Deep Learning Based Continuous In-Hospital Deterioration Prediction Model. Nature Communications 16:9513.</a:t>
            </a:r>
          </a:p>
          <a:p>
            <a:r>
              <a:rPr sz="1500">
                <a:latin typeface="Calibri"/>
              </a:rPr>
              <a:t>[9] PhysioNet (2012): Computing in Cardiology Challenge 2012 dataset. physionet.org/content/challenge-2012.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09728"/>
            <a:ext cx="1463040" cy="146304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87800" y="109728"/>
            <a:ext cx="1463040" cy="1463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073652" y="886054"/>
            <a:ext cx="12801600" cy="1234440"/>
          </a:xfrm>
          <a:prstGeom prst="rect">
            <a:avLst/>
          </a:prstGeom>
          <a:noFill/>
        </p:spPr>
        <p:txBody>
          <a:bodyPr wrap="square"/>
          <a:lstStyle/>
          <a:p>
            <a:pPr algn="ctr" indent="0" marL="0">
              <a:lnSpc>
                <a:spcPct val="150000"/>
              </a:lnSpc>
              <a:buNone/>
            </a:pPr>
            <a:r>
              <a:rPr sz="2000" b="1">
                <a:solidFill>
                  <a:srgbClr val="000000"/>
                </a:solidFill>
                <a:latin typeface="Calibri"/>
              </a:rPr>
              <a:t>P.A. COLLEGE OF ENGINEERING
</a:t>
            </a:r>
            <a:r>
              <a:rPr sz="2000" b="1">
                <a:solidFill>
                  <a:srgbClr val="000000"/>
                </a:solidFill>
                <a:latin typeface="Calibri"/>
              </a:rPr>
              <a:t>DEPARTMENT OF COMPUTER SCIENCE &amp;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64592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 indent="0" marL="0">
              <a:buNone/>
            </a:pPr>
            <a:r>
              <a:rPr sz="3000" b="1">
                <a:solidFill>
                  <a:srgbClr val="1757AC"/>
                </a:solidFill>
                <a:latin typeface="Calibri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