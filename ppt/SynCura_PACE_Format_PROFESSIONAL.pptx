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-1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8600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256032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6375C"/>
                </a:solidFill>
                <a:latin typeface="Times New Roman"/>
              </a:rPr>
              <a:t>P.A. COLLEGE OF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59436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36275"/>
                </a:solidFill>
                <a:latin typeface="Times New Roman"/>
              </a:rPr>
              <a:t>MANGALURU | DEPARTMENT OF COMPUTER SCIENCE &amp;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16375C"/>
                </a:solidFill>
                <a:latin typeface="Times New Roman"/>
              </a:rPr>
              <a:t>SynCura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10012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1757AC"/>
                </a:solidFill>
                <a:latin typeface="Times New Roman"/>
              </a:rPr>
              <a:t>Predictive ICU Monitoring System Using
Attention-Based LSTM with Real-Time Explainability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3474720"/>
            <a:ext cx="2971800" cy="54864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3977639"/>
            <a:ext cx="4572000" cy="1234440"/>
          </a:xfrm>
          <a:prstGeom prst="roundRect">
            <a:avLst/>
          </a:prstGeom>
          <a:solidFill>
            <a:srgbClr val="F1F7FD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4087368"/>
            <a:ext cx="42793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375C"/>
                </a:solidFill>
                <a:latin typeface="Times New Roman"/>
              </a:rPr>
              <a:t>TEAM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389120"/>
            <a:ext cx="4334256" cy="7406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1F2937"/>
                </a:solidFill>
                <a:latin typeface="Times New Roman"/>
              </a:rPr>
              <a:t>Abdul Ahad Ikkeri - 4PA24CS002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1F2937"/>
                </a:solidFill>
                <a:latin typeface="Times New Roman"/>
              </a:rPr>
              <a:t>Fathima Reeha - 4PA24CS026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1F2937"/>
                </a:solidFill>
                <a:latin typeface="Times New Roman"/>
              </a:rPr>
              <a:t>Fizan Feroz - 4PA24CS032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3977639"/>
            <a:ext cx="4572000" cy="1234440"/>
          </a:xfrm>
          <a:prstGeom prst="roundRect">
            <a:avLst/>
          </a:prstGeom>
          <a:solidFill>
            <a:srgbClr val="EFFAF8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52744" y="4087368"/>
            <a:ext cx="42793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375C"/>
                </a:solidFill>
                <a:latin typeface="Times New Roman"/>
              </a:rPr>
              <a:t>PROJECT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5312" y="4389120"/>
            <a:ext cx="4334256" cy="7406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1F2937"/>
                </a:solidFill>
                <a:latin typeface="Times New Roman"/>
              </a:rPr>
              <a:t>Software-based predictive ICU monitoring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1F2937"/>
                </a:solidFill>
                <a:latin typeface="Times New Roman"/>
              </a:rPr>
              <a:t>Attention-based deep learning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1F2937"/>
                </a:solidFill>
                <a:latin typeface="Times New Roman"/>
              </a:rPr>
              <a:t>Real-time explainability 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583680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Times New Roman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375C"/>
                </a:solidFill>
                <a:latin typeface="Times New Roman"/>
              </a:rPr>
              <a:t>P.A. COLLEGE OF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36275"/>
                </a:solidFill>
                <a:latin typeface="Times New Roman"/>
              </a:rPr>
              <a:t>MANGALURU | DEPARTMENT OF COMPUTER SCIENCE &amp; ENGINEERING</a:t>
            </a:r>
          </a:p>
        </p:txBody>
      </p:sp>
      <p:pic>
        <p:nvPicPr>
          <p:cNvPr id="5" name="Picture 4" descr="image-1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09728"/>
            <a:ext cx="530352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749808"/>
            <a:ext cx="10195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57AC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52728"/>
            <a:ext cx="11155680" cy="18288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547104"/>
            <a:ext cx="11155680" cy="9144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4754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Times New Roman"/>
              </a:rPr>
              <a:t>SynCura | Predictive ICU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83680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Times New Roman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00200"/>
            <a:ext cx="10972800" cy="4297680"/>
          </a:xfrm>
          <a:prstGeom prst="roundRect">
            <a:avLst/>
          </a:prstGeom>
          <a:solidFill>
            <a:srgbClr val="F1F7FD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709928"/>
            <a:ext cx="106801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375C"/>
                </a:solidFill>
                <a:latin typeface="Times New Roman"/>
              </a:rPr>
              <a:t>WHAT PROBLEM ARE WE SOLVING?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011680"/>
            <a:ext cx="10735056" cy="3803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800">
                <a:solidFill>
                  <a:srgbClr val="1F2937"/>
                </a:solidFill>
                <a:latin typeface="Times New Roman"/>
              </a:rPr>
              <a:t>ICU deterioration can progress rapidly and may be difficult to identify from isolated measurements.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800">
                <a:solidFill>
                  <a:srgbClr val="1F2937"/>
                </a:solidFill>
                <a:latin typeface="Times New Roman"/>
              </a:rPr>
              <a:t>NEWS2 and SOFA depend on threshold-driven assessments and manual interpretation.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800">
                <a:solidFill>
                  <a:srgbClr val="1F2937"/>
                </a:solidFill>
                <a:latin typeface="Times New Roman"/>
              </a:rPr>
              <a:t>A single reading may hide the direction, duration, and interaction of changing patient observations.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800">
                <a:solidFill>
                  <a:srgbClr val="1F2937"/>
                </a:solidFill>
                <a:latin typeface="Times New Roman"/>
              </a:rPr>
              <a:t>There is a need for an early-warning aid that analyzes recent patient history and presents an understandable risk estimate.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375C"/>
                </a:solidFill>
                <a:latin typeface="Times New Roman"/>
              </a:rPr>
              <a:t>P.A. COLLEGE OF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36275"/>
                </a:solidFill>
                <a:latin typeface="Times New Roman"/>
              </a:rPr>
              <a:t>MANGALURU | DEPARTMENT OF COMPUTER SCIENCE &amp; ENGINEERING</a:t>
            </a:r>
          </a:p>
        </p:txBody>
      </p:sp>
      <p:pic>
        <p:nvPicPr>
          <p:cNvPr id="5" name="Picture 4" descr="image-1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09728"/>
            <a:ext cx="530352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749808"/>
            <a:ext cx="10195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57AC"/>
                </a:solidFill>
                <a:latin typeface="Times New Roman"/>
              </a:rPr>
              <a:t>MOTIVATION / NEED FOR THE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52728"/>
            <a:ext cx="11155680" cy="18288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547104"/>
            <a:ext cx="11155680" cy="9144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4754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Times New Roman"/>
              </a:rPr>
              <a:t>SynCura | Predictive ICU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83680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Times New Roman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00200"/>
            <a:ext cx="5349240" cy="4251960"/>
          </a:xfrm>
          <a:prstGeom prst="roundRect">
            <a:avLst/>
          </a:prstGeom>
          <a:solidFill>
            <a:srgbClr val="EFFAF8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709928"/>
            <a:ext cx="50566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375C"/>
                </a:solidFill>
                <a:latin typeface="Times New Roman"/>
              </a:rPr>
              <a:t>WHY THIS PROBLEM?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011680"/>
            <a:ext cx="5111496" cy="3758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700">
                <a:solidFill>
                  <a:srgbClr val="1F2937"/>
                </a:solidFill>
                <a:latin typeface="Times New Roman"/>
              </a:rPr>
              <a:t>Earlier recognition may give clinicians more time to investigate and intervene.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700">
                <a:solidFill>
                  <a:srgbClr val="1F2937"/>
                </a:solidFill>
                <a:latin typeface="Times New Roman"/>
              </a:rPr>
              <a:t>Continuous ICU data contains temporal trends that are difficult to summarize manually.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700">
                <a:solidFill>
                  <a:srgbClr val="1F2937"/>
                </a:solidFill>
                <a:latin typeface="Times New Roman"/>
              </a:rPr>
              <a:t>An explainable system can make model output easier to inspect and discuss.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600200"/>
            <a:ext cx="5321808" cy="4251960"/>
          </a:xfrm>
          <a:prstGeom prst="roundRect">
            <a:avLst/>
          </a:prstGeom>
          <a:solidFill>
            <a:srgbClr val="F1F7FD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70992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375C"/>
                </a:solidFill>
                <a:latin typeface="Times New Roman"/>
              </a:rPr>
              <a:t>WHY THIS PROJECT?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011680"/>
            <a:ext cx="5084064" cy="3758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700">
                <a:solidFill>
                  <a:srgbClr val="1F2937"/>
                </a:solidFill>
                <a:latin typeface="Times New Roman"/>
              </a:rPr>
              <a:t>LSTM models are suitable for sequential clinical measurements.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700">
                <a:solidFill>
                  <a:srgbClr val="1F2937"/>
                </a:solidFill>
                <a:latin typeface="Times New Roman"/>
              </a:rPr>
              <a:t>Temporal attention can identify which moments in a patient trajectory influenced risk.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700">
                <a:solidFill>
                  <a:srgbClr val="1F2937"/>
                </a:solidFill>
                <a:latin typeface="Times New Roman"/>
              </a:rPr>
              <a:t>A dashboard can connect prediction, visualization, and explanation in one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375C"/>
                </a:solidFill>
                <a:latin typeface="Times New Roman"/>
              </a:rPr>
              <a:t>P.A. COLLEGE OF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36275"/>
                </a:solidFill>
                <a:latin typeface="Times New Roman"/>
              </a:rPr>
              <a:t>MANGALURU | DEPARTMENT OF COMPUTER SCIENCE &amp; ENGINEERING</a:t>
            </a:r>
          </a:p>
        </p:txBody>
      </p:sp>
      <p:pic>
        <p:nvPicPr>
          <p:cNvPr id="5" name="Picture 4" descr="image-1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09728"/>
            <a:ext cx="530352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749808"/>
            <a:ext cx="10195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57AC"/>
                </a:solidFill>
                <a:latin typeface="Times New Roman"/>
              </a:rPr>
              <a:t>EXISTING SYSTEM / RELATED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52728"/>
            <a:ext cx="11155680" cy="18288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547104"/>
            <a:ext cx="11155680" cy="9144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4754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Times New Roman"/>
              </a:rPr>
              <a:t>SynCura | Predictive ICU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83680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Times New Roman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00200"/>
            <a:ext cx="5349240" cy="4206240"/>
          </a:xfrm>
          <a:prstGeom prst="roundRect">
            <a:avLst/>
          </a:prstGeom>
          <a:solidFill>
            <a:srgbClr val="F1F7FD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709928"/>
            <a:ext cx="50566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375C"/>
                </a:solidFill>
                <a:latin typeface="Times New Roman"/>
              </a:rPr>
              <a:t>CURRENT 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011680"/>
            <a:ext cx="5111496" cy="371246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Times New Roman"/>
              </a:rPr>
              <a:t>NEWS2 and SOFA use clinical thresholds and structured scoring.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Times New Roman"/>
              </a:rPr>
              <a:t>They are interpretable and clinically familiar, but primarily reactive and not sequence-learning systems.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Times New Roman"/>
              </a:rPr>
              <a:t>Manual calculation and intermittent assessment can miss subtle temporal deterioration patterns.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600200"/>
            <a:ext cx="5321808" cy="4206240"/>
          </a:xfrm>
          <a:prstGeom prst="roundRect">
            <a:avLst/>
          </a:prstGeom>
          <a:solidFill>
            <a:srgbClr val="EFFAF8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70992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375C"/>
                </a:solidFill>
                <a:latin typeface="Times New Roman"/>
              </a:rPr>
              <a:t>RESEARCH DIRECTION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011680"/>
            <a:ext cx="5084064" cy="371246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Times New Roman"/>
              </a:rPr>
              <a:t>Recent work uses LSTM, attention, transformer, multimodal, wearable, and graph-based models.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Times New Roman"/>
              </a:rPr>
              <a:t>Reported performance varies with data, labels, missingness, and evaluation split.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Times New Roman"/>
              </a:rPr>
              <a:t>The gap is a practical real-time system combining prediction, dashboard visualization, and explanation.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375C"/>
                </a:solidFill>
                <a:latin typeface="Times New Roman"/>
              </a:rPr>
              <a:t>P.A. COLLEGE OF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36275"/>
                </a:solidFill>
                <a:latin typeface="Times New Roman"/>
              </a:rPr>
              <a:t>MANGALURU | DEPARTMENT OF COMPUTER SCIENCE &amp; ENGINEERING</a:t>
            </a:r>
          </a:p>
        </p:txBody>
      </p:sp>
      <p:pic>
        <p:nvPicPr>
          <p:cNvPr id="5" name="Picture 4" descr="image-1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09728"/>
            <a:ext cx="530352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749808"/>
            <a:ext cx="10195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57AC"/>
                </a:solidFill>
                <a:latin typeface="Times New Roman"/>
              </a:rPr>
              <a:t>BASE PAPER / REFERENCE PAPER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52728"/>
            <a:ext cx="11155680" cy="18288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547104"/>
            <a:ext cx="11155680" cy="9144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4754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Times New Roman"/>
              </a:rPr>
              <a:t>SynCura | Predictive ICU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83680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Times New Roman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508760"/>
            <a:ext cx="10972800" cy="1325880"/>
          </a:xfrm>
          <a:prstGeom prst="roundRect">
            <a:avLst/>
          </a:prstGeom>
          <a:solidFill>
            <a:srgbClr val="F1F7FD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618488"/>
            <a:ext cx="106801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375C"/>
                </a:solidFill>
                <a:latin typeface="Times New Roman"/>
              </a:rPr>
              <a:t>PAPER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920240"/>
            <a:ext cx="10735056" cy="83210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>
                <a:latin typeface="Times New Roman"/>
              </a:rPr>
              <a:t>Development and Validation of a Dynamic Real-Time Risk Prediction Model for ICU Patients Based on Longitudinal Irregular Data: Multicenter Retrospective Study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latin typeface="Times New Roman"/>
              </a:rPr>
              <a:t>Zheng, Z., Luo, J., Zhu, Y., Du, L., Lan, L., Zhou, X., Yang, X., and Huang, S. | 2025 | Journal of Medical Internet Research, vol. 27, e69293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063240"/>
            <a:ext cx="3429000" cy="2240280"/>
          </a:xfrm>
          <a:prstGeom prst="roundRect">
            <a:avLst/>
          </a:prstGeom>
          <a:solidFill>
            <a:srgbClr val="EFFAF8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3172968"/>
            <a:ext cx="31363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375C"/>
                </a:solidFill>
                <a:latin typeface="Times New Roman"/>
              </a:rPr>
              <a:t>DATA AND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474720"/>
            <a:ext cx="3191256" cy="1746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latin typeface="Times New Roman"/>
              </a:rPr>
              <a:t>176,344 ICU stays from MIMIC-IV and eICU-CRD.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latin typeface="Times New Roman"/>
              </a:rPr>
              <a:t>Irregular longitudinal EMR: vitals, labs, and medications with hourly updates.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latin typeface="Times New Roman"/>
              </a:rPr>
              <a:t>Time-aware bidirectional attention LSTM (TBAL).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3063240"/>
            <a:ext cx="3429000" cy="2240280"/>
          </a:xfrm>
          <a:prstGeom prst="roundRect">
            <a:avLst/>
          </a:prstGeom>
          <a:solidFill>
            <a:srgbClr val="F1F7FD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7136" y="3172968"/>
            <a:ext cx="31363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375C"/>
                </a:solidFill>
                <a:latin typeface="Times New Roman"/>
              </a:rPr>
              <a:t>KEY FINDINGS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4" y="3474720"/>
            <a:ext cx="3191256" cy="1746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>
                <a:latin typeface="Times New Roman"/>
              </a:rPr>
              <a:t>Dynamic AUROC 0.936 on MIMIC-IV.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latin typeface="Times New Roman"/>
              </a:rPr>
              <a:t>External eICU AUROC 0.919 with recall of 79.1%.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latin typeface="Times New Roman"/>
              </a:rPr>
              <a:t>Attention and Integrated Gradients support interpretation.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47304" y="3063240"/>
            <a:ext cx="3419856" cy="2240280"/>
          </a:xfrm>
          <a:prstGeom prst="roundRect">
            <a:avLst/>
          </a:prstGeom>
          <a:solidFill>
            <a:srgbClr val="EFFAF8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3172968"/>
            <a:ext cx="31272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375C"/>
                </a:solidFill>
                <a:latin typeface="Times New Roman"/>
              </a:rPr>
              <a:t>LIMITATION AND LINK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3474720"/>
            <a:ext cx="3182112" cy="1746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>
                <a:latin typeface="Times New Roman"/>
              </a:rPr>
              <a:t>Uses richer EMR and much larger multicenter data than SynCura.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latin typeface="Times New Roman"/>
              </a:rPr>
              <a:t>SynCura adapts the attention-LSTM design to PhysioNet 2012 with 12 features and adds SHAP explanations.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375C"/>
                </a:solidFill>
                <a:latin typeface="Times New Roman"/>
              </a:rPr>
              <a:t>P.A. COLLEGE OF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36275"/>
                </a:solidFill>
                <a:latin typeface="Times New Roman"/>
              </a:rPr>
              <a:t>MANGALURU | DEPARTMENT OF COMPUTER SCIENCE &amp; ENGINEERING</a:t>
            </a:r>
          </a:p>
        </p:txBody>
      </p:sp>
      <p:pic>
        <p:nvPicPr>
          <p:cNvPr id="5" name="Picture 4" descr="image-1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09728"/>
            <a:ext cx="530352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749808"/>
            <a:ext cx="10195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57AC"/>
                </a:solidFill>
                <a:latin typeface="Times New Roman"/>
              </a:rPr>
              <a:t>PROPOSED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52728"/>
            <a:ext cx="11155680" cy="18288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547104"/>
            <a:ext cx="11155680" cy="9144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4754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Times New Roman"/>
              </a:rPr>
              <a:t>SynCura | Predictive ICU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83680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Times New Roman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00200"/>
            <a:ext cx="5349240" cy="4206240"/>
          </a:xfrm>
          <a:prstGeom prst="roundRect">
            <a:avLst/>
          </a:prstGeom>
          <a:solidFill>
            <a:srgbClr val="F1F7FD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709928"/>
            <a:ext cx="50566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375C"/>
                </a:solidFill>
                <a:latin typeface="Times New Roman"/>
              </a:rPr>
              <a:t>SYNcura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011680"/>
            <a:ext cx="5111496" cy="371246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700">
                <a:solidFill>
                  <a:srgbClr val="1F2937"/>
                </a:solidFill>
                <a:latin typeface="Times New Roman"/>
              </a:rPr>
              <a:t>Use an attention-based LSTM to score deterioration risk from a rolling 90-minute window.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700">
                <a:solidFill>
                  <a:srgbClr val="1F2937"/>
                </a:solidFill>
                <a:latin typeface="Times New Roman"/>
              </a:rPr>
              <a:t>Process 12 clinical features including vital signs, laboratory values, and GCS.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700">
                <a:solidFill>
                  <a:srgbClr val="1F2937"/>
                </a:solidFill>
                <a:latin typeface="Times New Roman"/>
              </a:rPr>
              <a:t>Return a risk score from 0 to 100 through a real-time backend and 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600200"/>
            <a:ext cx="5321808" cy="4206240"/>
          </a:xfrm>
          <a:prstGeom prst="roundRect">
            <a:avLst/>
          </a:prstGeom>
          <a:solidFill>
            <a:srgbClr val="EFFAF8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70992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375C"/>
                </a:solidFill>
                <a:latin typeface="Times New Roman"/>
              </a:rPr>
              <a:t>HOW IT IS DIFFERENT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011680"/>
            <a:ext cx="5084064" cy="371246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Times New Roman"/>
              </a:rPr>
              <a:t>Adds temporal attention to identify influential time steps.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Times New Roman"/>
              </a:rPr>
              <a:t>Combines SHAP feature importance with attention-based temporal explanation.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Times New Roman"/>
              </a:rPr>
              <a:t>Provides a deployable FastAPI and React prototype rather than only an offline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375C"/>
                </a:solidFill>
                <a:latin typeface="Times New Roman"/>
              </a:rPr>
              <a:t>P.A. COLLEGE OF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36275"/>
                </a:solidFill>
                <a:latin typeface="Times New Roman"/>
              </a:rPr>
              <a:t>MANGALURU | DEPARTMENT OF COMPUTER SCIENCE &amp; ENGINEERING</a:t>
            </a:r>
          </a:p>
        </p:txBody>
      </p:sp>
      <p:pic>
        <p:nvPicPr>
          <p:cNvPr id="5" name="Picture 4" descr="image-1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09728"/>
            <a:ext cx="530352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749808"/>
            <a:ext cx="10195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57AC"/>
                </a:solidFill>
                <a:latin typeface="Times New Roman"/>
              </a:rPr>
              <a:t>METHODOLOGY / PROPOSED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52728"/>
            <a:ext cx="11155680" cy="18288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547104"/>
            <a:ext cx="11155680" cy="9144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4754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Times New Roman"/>
              </a:rPr>
              <a:t>SynCura | Predictive ICU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83680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Times New Roman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28800"/>
            <a:ext cx="1993392" cy="1417320"/>
          </a:xfrm>
          <a:prstGeom prst="roundRect">
            <a:avLst/>
          </a:prstGeom>
          <a:solidFill>
            <a:srgbClr val="F1F7FD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56816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A198"/>
                </a:solidFill>
                <a:latin typeface="Times New Roman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1956816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375C"/>
                </a:solidFill>
                <a:latin typeface="Times New Roman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487168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Times New Roman"/>
              </a:rPr>
              <a:t>PhysioNet 2012
12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1828800"/>
            <a:ext cx="1993392" cy="1417320"/>
          </a:xfrm>
          <a:prstGeom prst="roundRect">
            <a:avLst/>
          </a:prstGeom>
          <a:solidFill>
            <a:srgbClr val="EFFAF8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44368" y="1956816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A198"/>
                </a:solidFill>
                <a:latin typeface="Times New Roman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956816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375C"/>
                </a:solidFill>
                <a:latin typeface="Times New Roman"/>
              </a:rPr>
              <a:t>PREPROCESS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2487168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Times New Roman"/>
              </a:rPr>
              <a:t>Interpolate
Normalize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38928" y="1828800"/>
            <a:ext cx="1993392" cy="1417320"/>
          </a:xfrm>
          <a:prstGeom prst="roundRect">
            <a:avLst/>
          </a:prstGeom>
          <a:solidFill>
            <a:srgbClr val="F1F7FD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48656" y="1956816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A198"/>
                </a:solidFill>
                <a:latin typeface="Times New Roman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848" y="1956816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375C"/>
                </a:solidFill>
                <a:latin typeface="Times New Roman"/>
              </a:rPr>
              <a:t>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2487168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Times New Roman"/>
              </a:rPr>
              <a:t>2-layer LSTM
Temporal attention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43216" y="1828800"/>
            <a:ext cx="1993392" cy="1417320"/>
          </a:xfrm>
          <a:prstGeom prst="roundRect">
            <a:avLst/>
          </a:prstGeom>
          <a:solidFill>
            <a:srgbClr val="EFFAF8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52944" y="1956816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A198"/>
                </a:solidFill>
                <a:latin typeface="Times New Roman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46136" y="1956816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375C"/>
                </a:solidFill>
                <a:latin typeface="Times New Roman"/>
              </a:rP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76" y="2487168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Times New Roman"/>
              </a:rPr>
              <a:t>Risk 0-100
SHAP + attention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47504" y="1828800"/>
            <a:ext cx="1993392" cy="1417320"/>
          </a:xfrm>
          <a:prstGeom prst="roundRect">
            <a:avLst/>
          </a:prstGeom>
          <a:solidFill>
            <a:srgbClr val="F1F7FD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7232" y="1956816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A198"/>
                </a:solidFill>
                <a:latin typeface="Times New Roman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50424" y="1956816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375C"/>
                </a:solidFill>
                <a:latin typeface="Times New Roman"/>
              </a:rPr>
              <a:t>DEPLOY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84664" y="2487168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Times New Roman"/>
              </a:rPr>
              <a:t>FastAPI
React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840480"/>
            <a:ext cx="10835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36275"/>
                </a:solidFill>
                <a:latin typeface="Times New Roman"/>
              </a:rPr>
              <a:t>Window: 90 minutes | Stride: 15 minutes | Normalization: train-only population Z-score | Label horizon: final 12 hours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434840"/>
            <a:ext cx="4892040" cy="1005840"/>
          </a:xfrm>
          <a:prstGeom prst="roundRect">
            <a:avLst/>
          </a:prstGeom>
          <a:solidFill>
            <a:srgbClr val="EFFAF8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" y="4544568"/>
            <a:ext cx="45994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375C"/>
                </a:solidFill>
                <a:latin typeface="Times New Roman"/>
              </a:rPr>
              <a:t>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1" y="4846320"/>
            <a:ext cx="4654296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1F2937"/>
                </a:solidFill>
                <a:latin typeface="Times New Roman"/>
              </a:rPr>
              <a:t>Hidden size 96, dropout, batch normalization, sigmoid risk output.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2512" y="4434840"/>
            <a:ext cx="4892040" cy="1005840"/>
          </a:xfrm>
          <a:prstGeom prst="roundRect">
            <a:avLst/>
          </a:prstGeom>
          <a:solidFill>
            <a:srgbClr val="F1F7FD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28816" y="4544568"/>
            <a:ext cx="45994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375C"/>
                </a:solidFill>
                <a:latin typeface="Times New Roman"/>
              </a:rPr>
              <a:t>FEATURES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1384" y="4846320"/>
            <a:ext cx="4654296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Times New Roman"/>
              </a:rPr>
              <a:t>HR, RespRate, Temp, SysBP, DiasBP, SpO2, GCS, BUN, Creatinine, WBC, Platelets, Glucose.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375C"/>
                </a:solidFill>
                <a:latin typeface="Times New Roman"/>
              </a:rPr>
              <a:t>P.A. COLLEGE OF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36275"/>
                </a:solidFill>
                <a:latin typeface="Times New Roman"/>
              </a:rPr>
              <a:t>MANGALURU | DEPARTMENT OF COMPUTER SCIENCE &amp; ENGINEERING</a:t>
            </a:r>
          </a:p>
        </p:txBody>
      </p:sp>
      <p:pic>
        <p:nvPicPr>
          <p:cNvPr id="5" name="Picture 4" descr="image-1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09728"/>
            <a:ext cx="530352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749808"/>
            <a:ext cx="10195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57AC"/>
                </a:solidFill>
                <a:latin typeface="Times New Roman"/>
              </a:rPr>
              <a:t>EXPECTED OUTCOME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52728"/>
            <a:ext cx="11155680" cy="18288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547104"/>
            <a:ext cx="11155680" cy="9144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4754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Times New Roman"/>
              </a:rPr>
              <a:t>SynCura | Predictive ICU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83680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Times New Roman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00200"/>
            <a:ext cx="5349240" cy="4206240"/>
          </a:xfrm>
          <a:prstGeom prst="roundRect">
            <a:avLst/>
          </a:prstGeom>
          <a:solidFill>
            <a:srgbClr val="F1F7FD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709928"/>
            <a:ext cx="50566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375C"/>
                </a:solidFill>
                <a:latin typeface="Times New Roman"/>
              </a:rPr>
              <a:t>EXPECTED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011680"/>
            <a:ext cx="5111496" cy="371246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700">
                <a:solidFill>
                  <a:srgbClr val="1F2937"/>
                </a:solidFill>
                <a:latin typeface="Times New Roman"/>
              </a:rPr>
              <a:t>A working real-time ICU dashboard that displays patient deterioration risk.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700">
                <a:solidFill>
                  <a:srgbClr val="1F2937"/>
                </a:solidFill>
                <a:latin typeface="Times New Roman"/>
              </a:rPr>
              <a:t>Risk score presented on a 0-100 scale from recent vitals and clinical features.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700">
                <a:solidFill>
                  <a:srgbClr val="1F2937"/>
                </a:solidFill>
                <a:latin typeface="Times New Roman"/>
              </a:rPr>
              <a:t>Per-patient explanations showing influential time steps and features.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600200"/>
            <a:ext cx="5321808" cy="4206240"/>
          </a:xfrm>
          <a:prstGeom prst="roundRect">
            <a:avLst/>
          </a:prstGeom>
          <a:solidFill>
            <a:srgbClr val="EFFAF8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70992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375C"/>
                </a:solidFill>
                <a:latin typeface="Times New Roman"/>
              </a:rPr>
              <a:t>TARGET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011680"/>
            <a:ext cx="5084064" cy="371246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Times New Roman"/>
              </a:rPr>
              <a:t>Target AUC-ROC in a realistic 0.78-0.93 range for a single-dataset vitals-plus-labs system.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Times New Roman"/>
              </a:rPr>
              <a:t>Target earlier warning compared with a NEWS2 baseline, subject to proper evaluation.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Times New Roman"/>
              </a:rPr>
              <a:t>Demonstrate feasibility while clearly treating the project as a research prototype.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375C"/>
                </a:solidFill>
                <a:latin typeface="Times New Roman"/>
              </a:rPr>
              <a:t>P.A. COLLEGE OF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36275"/>
                </a:solidFill>
                <a:latin typeface="Times New Roman"/>
              </a:rPr>
              <a:t>MANGALURU | DEPARTMENT OF COMPUTER SCIENCE &amp; ENGINEERING</a:t>
            </a:r>
          </a:p>
        </p:txBody>
      </p:sp>
      <p:pic>
        <p:nvPicPr>
          <p:cNvPr id="5" name="Picture 4" descr="image-1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09728"/>
            <a:ext cx="530352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749808"/>
            <a:ext cx="10195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57AC"/>
                </a:solidFill>
                <a:latin typeface="Times New Roman"/>
              </a:rPr>
              <a:t>TECHNOLOGY / TOOLS REQUIRED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52728"/>
            <a:ext cx="11155680" cy="18288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547104"/>
            <a:ext cx="11155680" cy="9144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4754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Times New Roman"/>
              </a:rPr>
              <a:t>SynCura | Predictive ICU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83680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Times New Roman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00200"/>
            <a:ext cx="3429000" cy="4206240"/>
          </a:xfrm>
          <a:prstGeom prst="roundRect">
            <a:avLst/>
          </a:prstGeom>
          <a:solidFill>
            <a:srgbClr val="F1F7FD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709928"/>
            <a:ext cx="31363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375C"/>
                </a:solidFill>
                <a:latin typeface="Times New Roman"/>
              </a:rPr>
              <a:t>PROGRAMMING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011680"/>
            <a:ext cx="3191256" cy="371246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700">
                <a:solidFill>
                  <a:srgbClr val="1F2937"/>
                </a:solidFill>
                <a:latin typeface="Times New Roman"/>
              </a:rPr>
              <a:t>Python for ML and backend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700">
                <a:solidFill>
                  <a:srgbClr val="1F2937"/>
                </a:solidFill>
                <a:latin typeface="Times New Roman"/>
              </a:rPr>
              <a:t>JavaScript for frontend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600200"/>
            <a:ext cx="3429000" cy="4206240"/>
          </a:xfrm>
          <a:prstGeom prst="roundRect">
            <a:avLst/>
          </a:prstGeom>
          <a:solidFill>
            <a:srgbClr val="EFFAF8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709928"/>
            <a:ext cx="31363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375C"/>
                </a:solidFill>
                <a:latin typeface="Times New Roman"/>
              </a:rPr>
              <a:t>FRAMEWORKS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011680"/>
            <a:ext cx="3191256" cy="371246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Times New Roman"/>
              </a:rPr>
              <a:t>PyTorch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Times New Roman"/>
              </a:rPr>
              <a:t>FastAPI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Times New Roman"/>
              </a:rPr>
              <a:t>React and Vite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Times New Roman"/>
              </a:rPr>
              <a:t>Tailwind CSS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Times New Roman"/>
              </a:rPr>
              <a:t>SQLite and SHAP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1600200"/>
            <a:ext cx="3419856" cy="4206240"/>
          </a:xfrm>
          <a:prstGeom prst="roundRect">
            <a:avLst/>
          </a:prstGeom>
          <a:solidFill>
            <a:srgbClr val="F1F7FD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709928"/>
            <a:ext cx="31272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375C"/>
                </a:solidFill>
                <a:latin typeface="Times New Roman"/>
              </a:rPr>
              <a:t>DATA AND 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011680"/>
            <a:ext cx="3182112" cy="371246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>
                <a:solidFill>
                  <a:srgbClr val="1F2937"/>
                </a:solidFill>
                <a:latin typeface="Times New Roman"/>
              </a:rPr>
              <a:t>PhysioNet 2012 Challenge dataset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>
                <a:solidFill>
                  <a:srgbClr val="1F2937"/>
                </a:solidFill>
                <a:latin typeface="Times New Roman"/>
              </a:rPr>
              <a:t>REST APIs for ingestion and inference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>
                <a:solidFill>
                  <a:srgbClr val="1F2937"/>
                </a:solidFill>
                <a:latin typeface="Times New Roman"/>
              </a:rPr>
              <a:t>Optional ESP32 and MAX30105 sensor extension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375C"/>
                </a:solidFill>
                <a:latin typeface="Times New Roman"/>
              </a:rPr>
              <a:t>P.A. COLLEGE OF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36275"/>
                </a:solidFill>
                <a:latin typeface="Times New Roman"/>
              </a:rPr>
              <a:t>MANGALURU | DEPARTMENT OF COMPUTER SCIENCE &amp; ENGINEERING</a:t>
            </a:r>
          </a:p>
        </p:txBody>
      </p:sp>
      <p:pic>
        <p:nvPicPr>
          <p:cNvPr id="5" name="Picture 4" descr="image-1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09728"/>
            <a:ext cx="530352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749808"/>
            <a:ext cx="10195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57AC"/>
                </a:solidFill>
                <a:latin typeface="Times New Roman"/>
              </a:rPr>
              <a:t>SDG RELEVANCE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52728"/>
            <a:ext cx="11155680" cy="18288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547104"/>
            <a:ext cx="11155680" cy="9144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4754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Times New Roman"/>
              </a:rPr>
              <a:t>SynCura | Predictive ICU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83680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Times New Roman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00200"/>
            <a:ext cx="5349240" cy="4206240"/>
          </a:xfrm>
          <a:prstGeom prst="roundRect">
            <a:avLst/>
          </a:prstGeom>
          <a:solidFill>
            <a:srgbClr val="EFFAF8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709928"/>
            <a:ext cx="50566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375C"/>
                </a:solidFill>
                <a:latin typeface="Times New Roman"/>
              </a:rPr>
              <a:t>SDG 3: GOOD HEALTH AND WELL-BEING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011680"/>
            <a:ext cx="5111496" cy="371246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800">
                <a:solidFill>
                  <a:srgbClr val="1F2937"/>
                </a:solidFill>
                <a:latin typeface="Times New Roman"/>
              </a:rPr>
              <a:t>Earlier identification of ICU deterioration may support timely clinical review.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800">
                <a:solidFill>
                  <a:srgbClr val="1F2937"/>
                </a:solidFill>
                <a:latin typeface="Times New Roman"/>
              </a:rPr>
              <a:t>Explainable risk monitoring can help organize information from continuous measurements.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600200"/>
            <a:ext cx="5321808" cy="4206240"/>
          </a:xfrm>
          <a:prstGeom prst="roundRect">
            <a:avLst/>
          </a:prstGeom>
          <a:solidFill>
            <a:srgbClr val="F1F7FD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70992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375C"/>
                </a:solidFill>
                <a:latin typeface="Times New Roman"/>
              </a:rPr>
              <a:t>SDG 9: INDUSTRY, INNOVATION AND 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011680"/>
            <a:ext cx="5084064" cy="371246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700">
                <a:solidFill>
                  <a:srgbClr val="1F2937"/>
                </a:solidFill>
                <a:latin typeface="Times New Roman"/>
              </a:rPr>
              <a:t>Applies explainable deep learning to a modern clinical monitoring workflow.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700">
                <a:solidFill>
                  <a:srgbClr val="1F2937"/>
                </a:solidFill>
                <a:latin typeface="Times New Roman"/>
              </a:rPr>
              <a:t>Combines an ML pipeline, real-time API, visualization dashboard, and sensor-ready architecture.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375C"/>
                </a:solidFill>
                <a:latin typeface="Times New Roman"/>
              </a:rPr>
              <a:t>P.A. COLLEGE OF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36275"/>
                </a:solidFill>
                <a:latin typeface="Times New Roman"/>
              </a:rPr>
              <a:t>MANGALURU | DEPARTMENT OF COMPUTER SCIENCE &amp; ENGINEERING</a:t>
            </a:r>
          </a:p>
        </p:txBody>
      </p:sp>
      <p:pic>
        <p:nvPicPr>
          <p:cNvPr id="5" name="Picture 4" descr="image-1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09728"/>
            <a:ext cx="530352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749808"/>
            <a:ext cx="10195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57AC"/>
                </a:solidFill>
                <a:latin typeface="Times New Roman"/>
              </a:rPr>
              <a:t>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52728"/>
            <a:ext cx="11155680" cy="18288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547104"/>
            <a:ext cx="11155680" cy="9144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4754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Times New Roman"/>
              </a:rPr>
              <a:t>SynCura | Predictive ICU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83680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Times New Roman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00200"/>
            <a:ext cx="5349240" cy="4206240"/>
          </a:xfrm>
          <a:prstGeom prst="roundRect">
            <a:avLst/>
          </a:prstGeom>
          <a:solidFill>
            <a:srgbClr val="F1F7FD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709928"/>
            <a:ext cx="50566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375C"/>
                </a:solidFill>
                <a:latin typeface="Times New Roman"/>
              </a:rPr>
              <a:t>IMPORTANT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011680"/>
            <a:ext cx="5111496" cy="371246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>
                <a:latin typeface="Times New Roman"/>
              </a:rPr>
              <a:t>[1] Zheng et al., Journal of Medical Internet Research, vol. 27, e69293, 2025.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>
                <a:latin typeface="Times New Roman"/>
              </a:rPr>
              <a:t>[2] Yan et al., PeerJ, vol. 14, e21631, 2026.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>
                <a:latin typeface="Times New Roman"/>
              </a:rPr>
              <a:t>[3] Sadanandan, arXiv:2603.14719, 2026.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>
                <a:latin typeface="Times New Roman"/>
              </a:rPr>
              <a:t>[4] Wu et al., Journal of Big Data, vol. 11, no. 40, 2024.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>
                <a:latin typeface="Times New Roman"/>
              </a:rPr>
              <a:t>[5] Nguyen et al., arXiv:1707.05010, 2017.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600200"/>
            <a:ext cx="5321808" cy="4206240"/>
          </a:xfrm>
          <a:prstGeom prst="roundRect">
            <a:avLst/>
          </a:prstGeom>
          <a:solidFill>
            <a:srgbClr val="EFFAF8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70992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375C"/>
                </a:solidFill>
                <a:latin typeface="Times New Roman"/>
              </a:rPr>
              <a:t>IMPORTANT 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011680"/>
            <a:ext cx="5084064" cy="371246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>
                <a:solidFill>
                  <a:srgbClr val="1F2937"/>
                </a:solidFill>
                <a:latin typeface="Times New Roman"/>
              </a:rPr>
              <a:t>[6] Xie et al., npj Digital Medicine, vol. 8, 733, 2025.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>
                <a:solidFill>
                  <a:srgbClr val="1F2937"/>
                </a:solidFill>
                <a:latin typeface="Times New Roman"/>
              </a:rPr>
              <a:t>[7] Choi et al., IEEE JBHI, vol. 24, no. 9, 2020.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>
                <a:solidFill>
                  <a:srgbClr val="1F2937"/>
                </a:solidFill>
                <a:latin typeface="Times New Roman"/>
              </a:rPr>
              <a:t>[8] Li et al., IEEE Access, 2025.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>
                <a:solidFill>
                  <a:srgbClr val="1F2937"/>
                </a:solidFill>
                <a:latin typeface="Times New Roman"/>
              </a:rPr>
              <a:t>[9] Do et al., IEEE Access, vol. 11, 2023.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>
                <a:solidFill>
                  <a:srgbClr val="1F2937"/>
                </a:solidFill>
                <a:latin typeface="Times New Roman"/>
              </a:rPr>
              <a:t>[10] Scheid et al., Nature Communications, vol. 16, 9513, 2025.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>
                <a:solidFill>
                  <a:srgbClr val="1F2937"/>
                </a:solidFill>
                <a:latin typeface="Times New Roman"/>
              </a:rPr>
              <a:t>[11] PhysioNet, Computing in Cardiology Challenge 2012.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-1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8600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256032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6375C"/>
                </a:solidFill>
                <a:latin typeface="Times New Roman"/>
              </a:rPr>
              <a:t>P.A. COLLEGE OF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59436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36275"/>
                </a:solidFill>
                <a:latin typeface="Times New Roman"/>
              </a:rPr>
              <a:t>MANGALURU | DEPARTMENT OF COMPUTER SCIENCE &amp;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16375C"/>
                </a:solidFill>
                <a:latin typeface="Times New Roman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9418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36275"/>
                </a:solidFill>
                <a:latin typeface="Times New Roman"/>
              </a:rPr>
              <a:t>Questions and suggestions are welcome.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886200"/>
            <a:ext cx="3063240" cy="54864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37392" y="6583680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Times New Roman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