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860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2560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59436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16375C"/>
                </a:solidFill>
                <a:latin typeface="Times New Roman"/>
              </a:rPr>
              <a:t>SynCura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12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500" b="1">
                <a:solidFill>
                  <a:srgbClr val="1757AC"/>
                </a:solidFill>
                <a:latin typeface="Times New Roman"/>
              </a:rPr>
              <a:t>Predictive ICU Monitoring System Using
Attention-Based LSTM with Real-Time Explainability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3474720"/>
            <a:ext cx="2971800" cy="54864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0120" y="3977639"/>
            <a:ext cx="4572000" cy="12344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087368"/>
            <a:ext cx="4279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TEAM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4389120"/>
            <a:ext cx="4334256" cy="7406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Abdul Ahad Ikkeri - 4PA24CS002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Fathima Reeha - 4PA24CS026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Fizan Feroz - 4PA24CS032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3977639"/>
            <a:ext cx="4572000" cy="12344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52744" y="4087368"/>
            <a:ext cx="4279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PROJECT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25312" y="4389120"/>
            <a:ext cx="4334256" cy="7406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Software-based predictive ICU monitoring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Attention-based deep learning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Real-time explainability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10972800" cy="429768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10680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WHAT PROBLEM ARE WE SOLVING?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10735056" cy="38039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ICU deterioration can progress rapidly and may be difficult to identify from isolated measurements.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NEWS2 and SOFA depend on threshold-driven assessments and manual interpretation.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A single reading may hide the direction, duration, and interaction of changing patient observations.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There is a need for an early-warning aid that analyzes recent patient history and presents an understandable risk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5196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WHY THIS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58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Earlier recognition may give clinicians more time to investigate and intervene.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Continuous ICU data contains temporal trends that are difficult to summarize manually.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An explainable system can make model output easier to inspect and discuss.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5196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WHY THIS PROJECT?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5818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LSTM models are suitable for sequential clinical measurements.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Temporal attention can identify which moments in a patient trajectory influenced risk.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A dashboard can connect prediction, visualization, and explanation in one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EXISTING SYSTEM / RELATED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CURRENT PRACTICE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NEWS2 and SOFA use clinical thresholds and structured scoring.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They are interpretable and clinically familiar, but primarily reactive and not sequence-learning systems.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Manual calculation and intermittent assessment can miss subtle temporal deterioration patterns.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RESEARCH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Recent work uses LSTM, attention, transformer, multimodal, wearable, and graph-based models.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Reported performance varies with data, labels, missingness, and evaluation split.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The gap is a practical real-time system combining prediction, dashboard visualization, and explanation.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BASE PAPER / REFERENCE PAPER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08760"/>
            <a:ext cx="10972800" cy="132588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618488"/>
            <a:ext cx="10680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920240"/>
            <a:ext cx="10735056" cy="83210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Explainable Deep-Learning Models to Predict Diaphragmatic Dysfunction and Cognitive Stress in ICU Patients Under Mechanical Ventilation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Wang, Y., Bai, Y., and Jin, G. | 2026 | Frontiers in Physiology, vol. 17, Art. no. 1765898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63240"/>
            <a:ext cx="3429000" cy="224028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72968"/>
            <a:ext cx="3136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DATA AND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474720"/>
            <a:ext cx="3191256" cy="1746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25,751 mechanically ventilated ICU patients.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Continuous vital and ventilator time-series.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Compared LSTM, GRU, and RNN 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063240"/>
            <a:ext cx="3429000" cy="224028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136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KEY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9704" y="3474720"/>
            <a:ext cx="3191256" cy="1746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LSTM performed consistently well.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Reported AUC range: about 0.79-0.87.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>
                <a:solidFill>
                  <a:srgbClr val="1F2937"/>
                </a:solidFill>
                <a:latin typeface="Times New Roman"/>
              </a:rPr>
              <a:t>Explainability is emphasized for clinical trust.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7304" y="3063240"/>
            <a:ext cx="3419856" cy="224028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172968"/>
            <a:ext cx="3127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LIMITATION AND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3474720"/>
            <a:ext cx="3182112" cy="1746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Time-series signals were not equally strong for every outcome.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SynCura adapts the LSTM idea to PhysioNet 2012 and adds temporal attention plus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SYNcura IDEA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Use an attention-based LSTM to score deterioration risk from a rolling 90-minute window.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Process 12 clinical features including vital signs, laboratory values, and GCS.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Return a risk score from 0 to 100 through a real-time backend and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HOW IT IS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Adds temporal attention to identify influential time steps.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Combines SHAP feature importance with attention-based temporal explanation.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Provides a deployable FastAPI and React prototype rather than only an offline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METHODOLOGY / PROPOSED APPROACH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1828800"/>
            <a:ext cx="1993392" cy="141732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56816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A198"/>
                </a:solidFill>
                <a:latin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195681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375C"/>
                </a:solidFill>
                <a:latin typeface="Times New Roman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487168"/>
            <a:ext cx="1719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Times New Roman"/>
              </a:rPr>
              <a:t>PhysioNet 2012
12 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1828800"/>
            <a:ext cx="1993392" cy="141732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956816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A198"/>
                </a:solidFill>
                <a:latin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95681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375C"/>
                </a:solidFill>
                <a:latin typeface="Times New Roman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487168"/>
            <a:ext cx="1719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Times New Roman"/>
              </a:rPr>
              <a:t>Interpolate
Normalize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38928" y="1828800"/>
            <a:ext cx="1993392" cy="141732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8656" y="1956816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A198"/>
                </a:solidFill>
                <a:latin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1848" y="195681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375C"/>
                </a:solidFill>
                <a:latin typeface="Times New Roman"/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6088" y="2487168"/>
            <a:ext cx="1719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Times New Roman"/>
              </a:rPr>
              <a:t>2-layer LSTM
Temporal attention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43216" y="1828800"/>
            <a:ext cx="1993392" cy="141732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1956816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A198"/>
                </a:solidFill>
                <a:latin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46136" y="195681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375C"/>
                </a:solidFill>
                <a:latin typeface="Times New Roman"/>
              </a:rPr>
              <a:t>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487168"/>
            <a:ext cx="1719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Times New Roman"/>
              </a:rPr>
              <a:t>Risk 0-100
SHAP + attention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47504" y="1828800"/>
            <a:ext cx="1993392" cy="141732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7232" y="1956816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AA198"/>
                </a:solidFill>
                <a:latin typeface="Times New Roman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0424" y="1956816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6375C"/>
                </a:solidFill>
                <a:latin typeface="Times New Roman"/>
              </a:rPr>
              <a:t>DEPLOY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4664" y="2487168"/>
            <a:ext cx="1719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7"/>
                </a:solidFill>
                <a:latin typeface="Times New Roman"/>
              </a:rPr>
              <a:t>FastAPI
React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40480"/>
            <a:ext cx="10835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36275"/>
                </a:solidFill>
                <a:latin typeface="Times New Roman"/>
              </a:rPr>
              <a:t>Window: 90 minutes | Stride: 15 minutes | Normalization: train-only population Z-score | Label horizon: final 12 hours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434840"/>
            <a:ext cx="4892040" cy="10058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" y="4544568"/>
            <a:ext cx="45994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1" y="4846320"/>
            <a:ext cx="4654296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>
                <a:solidFill>
                  <a:srgbClr val="1F2937"/>
                </a:solidFill>
                <a:latin typeface="Times New Roman"/>
              </a:rPr>
              <a:t>Hidden size 96, dropout, batch normalization, sigmoid risk output.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82512" y="4434840"/>
            <a:ext cx="4892040" cy="10058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28816" y="4544568"/>
            <a:ext cx="45994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1384" y="4846320"/>
            <a:ext cx="4654296" cy="51206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  <a:latin typeface="Times New Roman"/>
              </a:rPr>
              <a:t>HR, RespRate, Temp, SysBP, DiasBP, SpO2, GCS, BUN, Creatinine, WBC, Platelets, Glucose.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EXPECTED OUTCOME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EXPECTED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A working real-time ICU dashboard that displays patient deterioration risk.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Risk score presented on a 0-100 scale from recent vitals and clinical features.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Per-patient explanations showing influential time steps and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TARGET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Target AUC-ROC in a realistic 0.78-0.93 range for a single-dataset vitals-plus-labs system.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Target earlier warning compared with a NEWS2 baseline, subject to proper evaluation.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Demonstrate feasibility while clearly treating the project as a research prototype.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TECHNOLOGY / TOOLS REQUIRED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3429000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3136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PROGRAMMING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319125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Python for ML and backend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JavaScript for frontend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600200"/>
            <a:ext cx="3429000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1709928"/>
            <a:ext cx="31363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011680"/>
            <a:ext cx="319125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PyTorch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FastAPI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React and Vite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Tailwind CSS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600">
                <a:solidFill>
                  <a:srgbClr val="1F2937"/>
                </a:solidFill>
                <a:latin typeface="Times New Roman"/>
              </a:rPr>
              <a:t>SQLite and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7304" y="1600200"/>
            <a:ext cx="3419856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709928"/>
            <a:ext cx="3127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DATA AND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2011680"/>
            <a:ext cx="3182112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PhysioNet 2012 Challenge dataset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REST APIs for ingestion and inference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Optional ESP32 and MAX30105 sensor extension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SDG RELEVANCE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SDG 3: GOOD HEALTH AND WELL-BEING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Earlier identification of ICU deterioration may support timely clinical review.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800">
                <a:solidFill>
                  <a:srgbClr val="1F2937"/>
                </a:solidFill>
                <a:latin typeface="Times New Roman"/>
              </a:rPr>
              <a:t>Explainable risk monitoring can help organize information from continuous measurements.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SDG 9: INDUSTRY, INNOVATION AND 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Applies explainable deep learning to a modern clinical monitoring workflow.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700">
                <a:solidFill>
                  <a:srgbClr val="1F2937"/>
                </a:solidFill>
                <a:latin typeface="Times New Roman"/>
              </a:rPr>
              <a:t>Combines an ML pipeline, real-time API, visualization dashboard, and sensor-ready architecture.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pic>
        <p:nvPicPr>
          <p:cNvPr id="5" name="Picture 4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09728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749808"/>
            <a:ext cx="10195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57AC"/>
                </a:solidFill>
                <a:latin typeface="Times New Roman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52728"/>
            <a:ext cx="11155680" cy="18288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547104"/>
            <a:ext cx="11155680" cy="9144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01968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Times New Roman"/>
              </a:rPr>
              <a:t>SynCura | Predictive ICU Monitoring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600200"/>
            <a:ext cx="5349240" cy="4206240"/>
          </a:xfrm>
          <a:prstGeom prst="roundRect">
            <a:avLst/>
          </a:prstGeom>
          <a:solidFill>
            <a:srgbClr val="F1F7FD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709928"/>
            <a:ext cx="50566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IMPORTANT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011680"/>
            <a:ext cx="5111496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[1] Wang, Bai and Jin, Frontiers in Physiology, 2026.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[2] Yan et al., PeerJ, vol. 14, e21631, 2026.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[3] Sadanandan, arXiv:2603.14719, 2026.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[4] Wu et al., Journal of Big Data, vol. 11, no. 40, 2024.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[5] Nguyen et al., arXiv:1707.05010, 2017.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600200"/>
            <a:ext cx="5321808" cy="4206240"/>
          </a:xfrm>
          <a:prstGeom prst="roundRect">
            <a:avLst/>
          </a:prstGeom>
          <a:solidFill>
            <a:srgbClr val="EFFAF8"/>
          </a:solidFill>
          <a:ln w="10160"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70992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6375C"/>
                </a:solidFill>
                <a:latin typeface="Times New Roman"/>
              </a:rPr>
              <a:t>IMPORTANT REFERENCES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011680"/>
            <a:ext cx="5084064" cy="3712463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[6] Xie et al., npj Digital Medicine, vol. 8, 733, 2025.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[7] Choi et al., IEEE JBHI, vol. 24, no. 9, 2020.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[8] Li et al., IEEE Access, 2025.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[9] Do et al., IEEE Access, vol. 11, 2023.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[10] Scheid et al., Nature Communications, vol. 16, 9513, 2025.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>
                <a:solidFill>
                  <a:srgbClr val="1F2937"/>
                </a:solidFill>
                <a:latin typeface="Times New Roman"/>
              </a:rPr>
              <a:t>[11] PhysioNet, Computing in Cardiology Challenge 2012.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-1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2860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4480" y="2560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6375C"/>
                </a:solidFill>
                <a:latin typeface="Times New Roman"/>
              </a:rPr>
              <a:t>P.A. COLLEGE OF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594360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36275"/>
                </a:solidFill>
                <a:latin typeface="Times New Roman"/>
              </a:rPr>
              <a:t>MANGALURU | DEPARTMENT OF COMPUTER SCIENCE &amp;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16375C"/>
                </a:solidFill>
                <a:latin typeface="Times New Roman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36275"/>
                </a:solidFill>
                <a:latin typeface="Times New Roman"/>
              </a:rPr>
              <a:t>Questions and suggestions are welcome.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886200"/>
            <a:ext cx="3063240" cy="54864"/>
          </a:xfrm>
          <a:prstGeom prst="rect">
            <a:avLst/>
          </a:prstGeom>
          <a:solidFill>
            <a:srgbClr val="2AA1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37392" y="6583680"/>
            <a:ext cx="4754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