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2" r:id="rId15"/>
    <p:sldId id="270" r:id="rId16"/>
    <p:sldId id="271" r:id="rId17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3600" b="1" dirty="0">
                <a:solidFill>
                  <a:srgbClr val="000000"/>
                </a:solidFill>
                <a:latin typeface="Calibri"/>
              </a:rPr>
              <a:t>P.A. COLLEGE OF ENGINEERING
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6000" b="1" dirty="0" err="1">
                <a:solidFill>
                  <a:srgbClr val="000000"/>
                </a:solidFill>
                <a:latin typeface="Calibri"/>
              </a:rPr>
              <a:t>SynCura</a:t>
            </a:r>
            <a:endParaRPr sz="6000" b="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80160" y="3063240"/>
            <a:ext cx="15727680" cy="14630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lnSpc>
                <a:spcPct val="150000"/>
              </a:lnSpc>
              <a:buNone/>
            </a:pPr>
            <a:r>
              <a:rPr sz="3400" b="1" dirty="0">
                <a:solidFill>
                  <a:srgbClr val="000000"/>
                </a:solidFill>
                <a:latin typeface="Calibri"/>
              </a:rPr>
              <a:t>Predictive ICU Monitoring System Using Attention-Based LSTM with Real-Time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6236208"/>
            <a:ext cx="6446520" cy="22860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>
              <a:lnSpc>
                <a:spcPct val="150000"/>
              </a:lnSpc>
              <a:buNone/>
            </a:pPr>
            <a:r>
              <a:rPr sz="3000" b="1">
                <a:solidFill>
                  <a:srgbClr val="000000"/>
                </a:solidFill>
                <a:latin typeface="Calibri"/>
              </a:rPr>
              <a:t>TEAM MEMBERS :
</a:t>
            </a:r>
            <a:r>
              <a:rPr sz="3000">
                <a:solidFill>
                  <a:srgbClr val="000000"/>
                </a:solidFill>
                <a:latin typeface="Calibri"/>
              </a:rPr>
              <a:t>Abdul Ahad Ikkeri – 4PA24CS002
Fathima Reeha – 4PA24CS026
Fizan Feroz – 4PA24CS032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6236208"/>
            <a:ext cx="6089904" cy="1828800"/>
          </a:xfrm>
          <a:prstGeom prst="rect">
            <a:avLst/>
          </a:prstGeom>
          <a:noFill/>
        </p:spPr>
        <p:txBody>
          <a:bodyPr wrap="square"/>
          <a:lstStyle/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146304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>
              <a:lnSpc>
                <a:spcPct val="150000"/>
              </a:lnSpc>
              <a:buNone/>
            </a:pPr>
            <a:r>
              <a:rPr sz="2600" b="1">
                <a:solidFill>
                  <a:srgbClr val="000000"/>
                </a:solidFill>
                <a:latin typeface="Calibri"/>
              </a:rPr>
              <a:t>ICU deterioration is difficult to identify early from isolated measurements and manual score calculations.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600" b="1">
                <a:solidFill>
                  <a:srgbClr val="000000"/>
                </a:solidFill>
                <a:latin typeface="Calibri"/>
              </a:rPr>
              <a:t>Existing rule-based scores do not fully capture the direction, duration, and interaction of changing observations.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600" b="1">
                <a:solidFill>
                  <a:srgbClr val="000000"/>
                </a:solidFill>
                <a:latin typeface="Calibri"/>
              </a:rPr>
              <a:t>Need: an early-warning aid reading recent history, with understandable reasons.</a:t>
            </a:r>
          </a:p>
          <a:p>
            <a:pPr marL="0" indent="0">
              <a:lnSpc>
                <a:spcPct val="150000"/>
              </a:lnSpc>
              <a:buNone/>
            </a:pPr>
            <a:r>
              <a:rPr sz="2600" b="1">
                <a:solidFill>
                  <a:srgbClr val="000000"/>
                </a:solidFill>
                <a:latin typeface="Calibri"/>
              </a:rPr>
              <a:t>The challenge is to build and evaluate a real-time, explainable prototype without presenting it as a validated clinical device.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68101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MOTIVATION / NEED FOR 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ICU deterioration can progress rapidly, making early recognition important for timely clinical intervention.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Rule-based scores such as NEWS2 and SOFA use threshold-driven assessments and do not directly model longitudinal trends.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 err="1">
                <a:solidFill>
                  <a:srgbClr val="000000"/>
                </a:solidFill>
                <a:latin typeface="Calibri"/>
              </a:rPr>
              <a:t>SynCura</a:t>
            </a:r>
            <a:r>
              <a:rPr sz="3200" dirty="0">
                <a:solidFill>
                  <a:srgbClr val="000000"/>
                </a:solidFill>
                <a:latin typeface="Calibri"/>
              </a:rPr>
              <a:t> applies temporal deep learning to streaming-style vital and clinical measurements.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The project focuses on an explainable software prototype, not autonomous clinical decision-making.</a:t>
            </a:r>
            <a:r>
              <a:rPr lang="en-IN" sz="3200" dirty="0">
                <a:solidFill>
                  <a:srgbClr val="000000"/>
                </a:solidFill>
                <a:latin typeface="Calibri"/>
              </a:rPr>
              <a:t>	1</a:t>
            </a:r>
            <a:endParaRPr sz="3200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EXISTING SYSTEM / RELATED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latin typeface="Calibri"/>
              </a:rPr>
              <a:t>Base paper: Zheng et al. (2025) - Temporal-Branch Attention LSTM (TBAL), MIMIC-IV + </a:t>
            </a:r>
            <a:r>
              <a:rPr sz="2800" dirty="0" err="1">
                <a:latin typeface="Calibri"/>
              </a:rPr>
              <a:t>eICU</a:t>
            </a:r>
            <a:r>
              <a:rPr sz="2800" dirty="0">
                <a:latin typeface="Calibri"/>
              </a:rPr>
              <a:t>, dynamic AUROC ~0.936. </a:t>
            </a:r>
            <a:r>
              <a:rPr sz="2800" dirty="0" err="1">
                <a:latin typeface="Calibri"/>
              </a:rPr>
              <a:t>SynCura</a:t>
            </a:r>
            <a:r>
              <a:rPr sz="2800" dirty="0">
                <a:latin typeface="Calibri"/>
              </a:rPr>
              <a:t> adapts TBAL to PhysioNet 2012.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800" dirty="0">
                <a:latin typeface="Calibri"/>
              </a:rPr>
              <a:t>Support 1: Yan et al. (2026) - single LSTM, multi-</a:t>
            </a:r>
            <a:r>
              <a:rPr sz="2800" dirty="0" err="1">
                <a:latin typeface="Calibri"/>
              </a:rPr>
              <a:t>centre</a:t>
            </a:r>
            <a:r>
              <a:rPr sz="2800" dirty="0">
                <a:latin typeface="Calibri"/>
              </a:rPr>
              <a:t> ICU, AUC 0.802.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800" dirty="0">
                <a:latin typeface="Calibri"/>
              </a:rPr>
              <a:t>Support 2: </a:t>
            </a:r>
            <a:r>
              <a:rPr sz="2800" dirty="0" err="1">
                <a:latin typeface="Calibri"/>
              </a:rPr>
              <a:t>Sadanandan</a:t>
            </a:r>
            <a:r>
              <a:rPr sz="2800" dirty="0">
                <a:latin typeface="Calibri"/>
              </a:rPr>
              <a:t> (2026) - multimodal LSTM + </a:t>
            </a:r>
            <a:r>
              <a:rPr sz="2800" dirty="0" err="1">
                <a:latin typeface="Calibri"/>
              </a:rPr>
              <a:t>ClinicalBERT</a:t>
            </a:r>
            <a:r>
              <a:rPr sz="2800" dirty="0">
                <a:latin typeface="Calibri"/>
              </a:rPr>
              <a:t>, AUROC 0.786.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800" dirty="0">
                <a:latin typeface="Calibri"/>
              </a:rPr>
              <a:t>Support 3: Wu et al. (2024) - vital-signs-only LSTM, AUC 0.926.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800" dirty="0">
                <a:latin typeface="Calibri"/>
              </a:rPr>
              <a:t>Support 4: Xie et al. (2025) - </a:t>
            </a:r>
            <a:r>
              <a:rPr sz="2800" dirty="0" err="1">
                <a:latin typeface="Calibri"/>
              </a:rPr>
              <a:t>RealMIP</a:t>
            </a:r>
            <a:r>
              <a:rPr sz="2800" dirty="0">
                <a:latin typeface="Calibri"/>
              </a:rPr>
              <a:t> missing-data recovery, AUC 0.957-0.968.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800" dirty="0">
                <a:latin typeface="Calibri"/>
              </a:rPr>
              <a:t>Support 5: Choi et al. (2020) - interpretable </a:t>
            </a:r>
            <a:r>
              <a:rPr sz="2800" dirty="0" err="1">
                <a:latin typeface="Calibri"/>
              </a:rPr>
              <a:t>BiLSTM</a:t>
            </a:r>
            <a:r>
              <a:rPr sz="2800" dirty="0">
                <a:latin typeface="Calibri"/>
              </a:rPr>
              <a:t> early-warning, AUROC ~0.880.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800" dirty="0">
                <a:latin typeface="Calibri"/>
              </a:rPr>
              <a:t>Support 6: Scheid et al. (2025) - continuous wearable deep learning, AUROC ~0.890.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800" dirty="0">
                <a:latin typeface="Calibri"/>
              </a:rPr>
              <a:t>Support 7: Wang, Bai &amp; Jin (2026) - explainable LSTM, AUC 0.79-0.87.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sz="2800" dirty="0">
                <a:latin typeface="Calibri"/>
              </a:rPr>
              <a:t>Gap: models report single AUC only; few validate on unseen patients; none ship a real-time explainable risk path.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BASE PAPER / REFERENCE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latin typeface="Calibri"/>
              </a:rPr>
              <a:t>Title: Development and Validation of a Dynamic Real-Time Risk Prediction Model for ICU Patients based on Longitudinal Irregular Data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sz="2800" dirty="0">
                <a:latin typeface="Calibri"/>
              </a:rPr>
              <a:t>Authors: Zheng et al. (2025) - JMIR vol. 27, e69293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sz="2800" dirty="0">
                <a:latin typeface="Calibri"/>
              </a:rPr>
              <a:t>Method: Temporal-Branch Attention LSTM (TBAL); longitudinal irregular EHR; MIMIC-IV + </a:t>
            </a:r>
            <a:r>
              <a:rPr sz="2800" dirty="0" err="1">
                <a:latin typeface="Calibri"/>
              </a:rPr>
              <a:t>eICU</a:t>
            </a:r>
            <a:endParaRPr sz="2800" dirty="0">
              <a:latin typeface="Calibri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sz="2800" dirty="0">
                <a:latin typeface="Calibri"/>
              </a:rPr>
              <a:t>Dynamic AUROC ~0.936; static ~0.812; recall 79.1%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sz="2800" dirty="0" err="1">
                <a:latin typeface="Calibri"/>
              </a:rPr>
              <a:t>SynCura</a:t>
            </a:r>
            <a:r>
              <a:rPr sz="2800" dirty="0">
                <a:latin typeface="Calibri"/>
              </a:rPr>
              <a:t> adapts TBAL: 90-min rolling window, 12 features, temporal attention, PhysioNet 2012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sz="2800" dirty="0">
                <a:latin typeface="Calibri"/>
              </a:rPr>
              <a:t>Caution - hindsight bias: with retrospective data till discharge AUROC rises to 0.989 (future info); cross-hospital drops to 0.81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6" y="3261665"/>
            <a:ext cx="11394616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500" dirty="0">
                <a:solidFill>
                  <a:srgbClr val="000000"/>
                </a:solidFill>
                <a:latin typeface="Calibri"/>
              </a:rPr>
              <a:t>Idea: attention-based LSTM over a rolling 90-minute window of 12 clinical features -&gt; 0-100 risk score with an explanation panel.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500" dirty="0">
                <a:solidFill>
                  <a:srgbClr val="000000"/>
                </a:solidFill>
                <a:latin typeface="Calibri"/>
              </a:rPr>
              <a:t>Evaluation honesty: reports what papers skip - false alarms, sensitivity, specificity, precision, lead time, vs NEWS2.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500" dirty="0">
                <a:solidFill>
                  <a:srgbClr val="000000"/>
                </a:solidFill>
                <a:latin typeface="Calibri"/>
              </a:rPr>
              <a:t>Holdout check: unseen 20% set-B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500" dirty="0">
                <a:solidFill>
                  <a:srgbClr val="000000"/>
                </a:solidFill>
                <a:latin typeface="Calibri"/>
              </a:rPr>
              <a:t>Deployable path: </a:t>
            </a:r>
            <a:r>
              <a:rPr sz="2500" dirty="0" err="1">
                <a:solidFill>
                  <a:srgbClr val="000000"/>
                </a:solidFill>
                <a:latin typeface="Calibri"/>
              </a:rPr>
              <a:t>FastAPI</a:t>
            </a:r>
            <a:r>
              <a:rPr sz="2500" dirty="0">
                <a:solidFill>
                  <a:srgbClr val="000000"/>
                </a:solidFill>
                <a:latin typeface="Calibri"/>
              </a:rPr>
              <a:t> alerting, HTTP/MQTT ingestion; misses/false alarms queue into weighted retraining.</a:t>
            </a:r>
          </a:p>
        </p:txBody>
      </p:sp>
      <p:pic>
        <p:nvPicPr>
          <p:cNvPr id="7" name="Picture 6" descr="sh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6343" y="3040844"/>
            <a:ext cx="6061657" cy="43520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METHODOLOGY / PROPOSED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757AC"/>
                </a:solidFill>
                <a:latin typeface="Calibri"/>
              </a:rPr>
              <a:t>1 · DATA</a:t>
            </a:r>
          </a:p>
          <a:p>
            <a:pPr algn="ctr">
              <a:spcBef>
                <a:spcPts val="600"/>
              </a:spcBef>
            </a:pPr>
            <a:r>
              <a:rPr sz="2000" b="1">
                <a:solidFill>
                  <a:srgbClr val="000000"/>
                </a:solidFill>
                <a:latin typeface="Calibri"/>
              </a:rPr>
              <a:t>PhysioNet 2012
12 vitals + labs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12464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224528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757AC"/>
                </a:solidFill>
                <a:latin typeface="Calibri"/>
              </a:rPr>
              <a:t>2 · PREPARE</a:t>
            </a:r>
          </a:p>
          <a:p>
            <a:pPr algn="ctr">
              <a:spcBef>
                <a:spcPts val="600"/>
              </a:spcBef>
            </a:pPr>
            <a:r>
              <a:rPr sz="2000" b="1">
                <a:solidFill>
                  <a:srgbClr val="000000"/>
                </a:solidFill>
                <a:latin typeface="Calibri"/>
              </a:rPr>
              <a:t>Interpolate
Train-only z-score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85432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97496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757AC"/>
                </a:solidFill>
                <a:latin typeface="Calibri"/>
              </a:rPr>
              <a:t>3 · WINDOW</a:t>
            </a:r>
          </a:p>
          <a:p>
            <a:pPr algn="ctr">
              <a:spcBef>
                <a:spcPts val="600"/>
              </a:spcBef>
            </a:pPr>
            <a:r>
              <a:rPr sz="2000" b="1">
                <a:solidFill>
                  <a:srgbClr val="000000"/>
                </a:solidFill>
                <a:latin typeface="Calibri"/>
              </a:rPr>
              <a:t>90-min rolling
Stride 15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0058400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570464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757AC"/>
                </a:solidFill>
                <a:latin typeface="Calibri"/>
              </a:rPr>
              <a:t>4 · MODEL</a:t>
            </a:r>
          </a:p>
          <a:p>
            <a:pPr algn="ctr">
              <a:spcBef>
                <a:spcPts val="600"/>
              </a:spcBef>
            </a:pPr>
            <a:r>
              <a:rPr sz="2000" b="1">
                <a:solidFill>
                  <a:srgbClr val="000000"/>
                </a:solidFill>
                <a:latin typeface="Calibri"/>
              </a:rPr>
              <a:t>LSTM-96 + attention
Risk 0–100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3231368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3743432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1757AC"/>
                </a:solidFill>
                <a:latin typeface="Calibri"/>
              </a:rPr>
              <a:t>5 · SERVE</a:t>
            </a:r>
          </a:p>
          <a:p>
            <a:pPr algn="ctr">
              <a:spcBef>
                <a:spcPts val="600"/>
              </a:spcBef>
            </a:pPr>
            <a:r>
              <a:rPr sz="2000" b="1">
                <a:solidFill>
                  <a:srgbClr val="000000"/>
                </a:solidFill>
                <a:latin typeface="Calibri"/>
              </a:rPr>
              <a:t>FastAPI + dashboard
SHAP explains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629400"/>
            <a:ext cx="15297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i="1">
                <a:solidFill>
                  <a:srgbClr val="444444"/>
                </a:solidFill>
                <a:latin typeface="Calibri"/>
              </a:rPr>
              <a:t>Leakage controls: train-only stats · patient-level split · past-only windows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EXPECTED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600">
                <a:solidFill>
                  <a:srgbClr val="000000"/>
                </a:solidFill>
                <a:latin typeface="Calibri"/>
              </a:rPr>
              <a:t>Working real-time ICU dashboard for deterioration risk from recent measurements.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600">
                <a:solidFill>
                  <a:srgbClr val="000000"/>
                </a:solidFill>
                <a:latin typeface="Calibri"/>
              </a:rPr>
              <a:t>0-to-100 risk score with temporal attention and SHAP explanations.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600">
                <a:solidFill>
                  <a:srgbClr val="000000"/>
                </a:solidFill>
                <a:latin typeface="Calibri"/>
              </a:rPr>
              <a:t>Evaluate earlier warning relative to NEWS2 using quantified lead time.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600">
                <a:solidFill>
                  <a:srgbClr val="000000"/>
                </a:solidFill>
                <a:latin typeface="Calibri"/>
              </a:rPr>
              <a:t>Measure false alarms, sensitivity, specificity, precision,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600">
                <a:solidFill>
                  <a:srgbClr val="000000"/>
                </a:solidFill>
                <a:latin typeface="Calibri"/>
              </a:rPr>
              <a:t>Research prototype only - not clinical deployment readiness.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3400" b="1">
                <a:solidFill>
                  <a:srgbClr val="1757AC"/>
                </a:solidFill>
                <a:latin typeface="Calibri"/>
              </a:rPr>
              <a:t>EXPERIMENTAL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37560"/>
            <a:ext cx="3700370" cy="475488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200" dirty="0">
                <a:solidFill>
                  <a:srgbClr val="000000"/>
                </a:solidFill>
                <a:latin typeface="Calibri"/>
              </a:rPr>
              <a:t>Ensemble: 3 LSTMs (s48, c93, s45), logit-averaged as deployed.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 dirty="0">
                <a:solidFill>
                  <a:srgbClr val="000000"/>
                </a:solidFill>
                <a:latin typeface="Calibri"/>
              </a:rPr>
              <a:t>Fresh unseen holdout: AUC 0.844 (95% CI 0.836-0.852) vs validation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200" dirty="0">
                <a:solidFill>
                  <a:srgbClr val="000000"/>
                </a:solidFill>
                <a:latin typeface="Calibri"/>
              </a:rPr>
              <a:t>Holdout AUC is close to validation AUC; confidence intervals for other metrics are pending.</a:t>
            </a:r>
          </a:p>
        </p:txBody>
      </p:sp>
      <p:pic>
        <p:nvPicPr>
          <p:cNvPr id="8" name="Picture 7" descr="r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0929" y="2743200"/>
            <a:ext cx="6413166" cy="5611520"/>
          </a:xfrm>
          <a:prstGeom prst="rect">
            <a:avLst/>
          </a:prstGeom>
        </p:spPr>
      </p:pic>
      <p:pic>
        <p:nvPicPr>
          <p:cNvPr id="9" name="Picture 8" descr="metrics_table.png"/>
          <p:cNvPicPr>
            <a:picLocks noChangeAspect="1"/>
          </p:cNvPicPr>
          <p:nvPr/>
        </p:nvPicPr>
        <p:blipFill>
          <a:blip r:embed="rId6"/>
          <a:srcRect b="44821"/>
          <a:stretch>
            <a:fillRect/>
          </a:stretch>
        </p:blipFill>
        <p:spPr>
          <a:xfrm>
            <a:off x="11739719" y="2587531"/>
            <a:ext cx="6411122" cy="22994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LIMITATIONS &amp; IMPROVEMENT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73240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Base-paper ceiling: 0.936 dynamic, but 0.989 only at discharge (hindsight bias); cross-hospital AUROC falls to 0.81/0.76; no prospective trial.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Our stricter bar: 90-minute past-only windows; holdout AUC 0.844 is close to validation AUC 0.840.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Reported what papers often skip: false-alarm rate, specificity, precision, lead time vs NEWS2, and calibration.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Next steps: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eICU</a:t>
            </a:r>
            <a:r>
              <a:rPr sz="2800" dirty="0">
                <a:solidFill>
                  <a:srgbClr val="000000"/>
                </a:solidFill>
                <a:latin typeface="Calibri"/>
              </a:rPr>
              <a:t>/MIMIC external validation, robust missing-data handling, time-aware attention, and a prospective clinical pilot.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TECHNOLOGY / TOOLS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894076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latin typeface="Calibri"/>
              </a:rPr>
              <a:t>Backend: Python 3.10, </a:t>
            </a:r>
            <a:r>
              <a:rPr sz="2800" dirty="0" err="1">
                <a:latin typeface="Calibri"/>
              </a:rPr>
              <a:t>FastAPI</a:t>
            </a:r>
            <a:endParaRPr lang="en-IN" sz="2800" dirty="0">
              <a:latin typeface="Calibri"/>
            </a:endParaRP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latin typeface="Calibri"/>
              </a:rPr>
              <a:t>Two LSTM hidden layers (96 units) + Temporal Attention</a:t>
            </a:r>
            <a:endParaRPr lang="en-IN" sz="2800" dirty="0">
              <a:latin typeface="Calibri"/>
            </a:endParaRP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latin typeface="Calibri"/>
              </a:rPr>
              <a:t>Microservices: </a:t>
            </a:r>
            <a:r>
              <a:rPr sz="2800" dirty="0" err="1">
                <a:latin typeface="Calibri"/>
              </a:rPr>
              <a:t>FastAPI</a:t>
            </a:r>
            <a:r>
              <a:rPr sz="2800" dirty="0">
                <a:latin typeface="Calibri"/>
              </a:rPr>
              <a:t> real-time backend, React + Vite frontend</a:t>
            </a:r>
            <a:endParaRPr lang="en-IN" sz="2800" dirty="0">
              <a:latin typeface="Calibri"/>
            </a:endParaRP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800" dirty="0">
                <a:latin typeface="Calibri"/>
              </a:rPr>
              <a:t>Edge/stream ingestion: MQTT with Eclipse </a:t>
            </a:r>
            <a:r>
              <a:rPr sz="2800" dirty="0" err="1">
                <a:latin typeface="Calibri"/>
              </a:rPr>
              <a:t>Mosquitto</a:t>
            </a:r>
            <a:endParaRPr sz="2800" dirty="0"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05156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SENSE</a:t>
            </a:r>
          </a:p>
          <a:p>
            <a:pPr algn="ctr">
              <a:spcBef>
                <a:spcPts val="600"/>
              </a:spcBef>
            </a:pPr>
            <a:r>
              <a:rPr sz="1900" b="1">
                <a:solidFill>
                  <a:srgbClr val="000000"/>
                </a:solidFill>
                <a:latin typeface="Calibri"/>
              </a:rPr>
              <a:t>ESP32 + MAX30105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37083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98348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INGEST</a:t>
            </a:r>
          </a:p>
          <a:p>
            <a:pPr algn="ctr">
              <a:spcBef>
                <a:spcPts val="600"/>
              </a:spcBef>
            </a:pPr>
            <a:r>
              <a:rPr sz="1900" b="1">
                <a:solidFill>
                  <a:srgbClr val="000000"/>
                </a:solidFill>
                <a:latin typeface="Calibri"/>
              </a:rPr>
              <a:t>FastAPI + SQLite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0275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91540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1757AC"/>
                </a:solidFill>
                <a:latin typeface="Calibri"/>
              </a:rPr>
              <a:t>SCORE</a:t>
            </a:r>
          </a:p>
          <a:p>
            <a:pPr algn="ctr">
              <a:spcBef>
                <a:spcPts val="600"/>
              </a:spcBef>
            </a:pPr>
            <a:r>
              <a:rPr sz="1900" b="1">
                <a:solidFill>
                  <a:srgbClr val="000000"/>
                </a:solidFill>
                <a:latin typeface="Calibri"/>
              </a:rPr>
              <a:t>AttentionLSTM 0–100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2234672" y="7274052"/>
            <a:ext cx="539496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2847320" y="6355080"/>
            <a:ext cx="3246120" cy="22402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dirty="0">
                <a:solidFill>
                  <a:srgbClr val="1757AC"/>
                </a:solidFill>
                <a:latin typeface="Calibri"/>
              </a:rPr>
              <a:t>ACT</a:t>
            </a:r>
          </a:p>
          <a:p>
            <a:pPr algn="ctr">
              <a:spcBef>
                <a:spcPts val="600"/>
              </a:spcBef>
            </a:pPr>
            <a:r>
              <a:rPr sz="1900" b="1" dirty="0">
                <a:solidFill>
                  <a:srgbClr val="000000"/>
                </a:solidFill>
                <a:latin typeface="Calibri"/>
              </a:rPr>
              <a:t>Dashboard + alerts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SDG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600" dirty="0">
                <a:solidFill>
                  <a:srgbClr val="000000"/>
                </a:solidFill>
                <a:latin typeface="Calibri"/>
              </a:rPr>
              <a:t>SDG 3 - Good Health and Well-Being: earlier detection of ICU deterioration supports timely clinical review and better patient monitoring.</a:t>
            </a:r>
            <a:endParaRPr lang="en-IN" sz="2600" dirty="0">
              <a:solidFill>
                <a:srgbClr val="000000"/>
              </a:solidFill>
              <a:latin typeface="Calibri"/>
            </a:endParaRP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600" dirty="0">
                <a:solidFill>
                  <a:srgbClr val="000000"/>
                </a:solidFill>
                <a:latin typeface="Calibri"/>
              </a:rPr>
              <a:t>SDG 9 - Industry, Innovation and Infrastructure: explainable deep learning integrated into a modern monitoring workflow - ML, APIs, visualization, and sensor-ready architecture.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dirty="0">
                <a:solidFill>
                  <a:srgbClr val="1757AC"/>
                </a:solidFill>
                <a:latin typeface="Calibri"/>
              </a:rP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700"/>
              </a:spcAft>
              <a:buSzPct val="100000"/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Calibration and decision-curve analysis for bedside thresholds.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Subgroup and fairness validation across age, sex, and hospitals.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External validation on MIMIC-IV and </a:t>
            </a:r>
            <a:r>
              <a:rPr sz="3200" dirty="0" err="1">
                <a:solidFill>
                  <a:srgbClr val="000000"/>
                </a:solidFill>
                <a:latin typeface="Calibri"/>
              </a:rPr>
              <a:t>eICU</a:t>
            </a:r>
            <a:r>
              <a:rPr sz="3200" dirty="0">
                <a:solidFill>
                  <a:srgbClr val="000000"/>
                </a:solidFill>
                <a:latin typeface="Calibri"/>
              </a:rPr>
              <a:t> patient cohorts.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Prospective clinical pilot with collaborators.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3200" dirty="0">
                <a:solidFill>
                  <a:srgbClr val="000000"/>
                </a:solidFill>
                <a:latin typeface="Calibri"/>
              </a:rPr>
              <a:t>Privacy-preserving multi-hospital training and safer edge deployment.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39550" y="2011680"/>
            <a:ext cx="300890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dirty="0">
                <a:solidFill>
                  <a:srgbClr val="1757AC"/>
                </a:solidFill>
                <a:latin typeface="Calibri"/>
              </a:rPr>
              <a:t>CONCLUSION</a:t>
            </a:r>
            <a:endParaRPr sz="3400" b="1" dirty="0">
              <a:solidFill>
                <a:srgbClr val="1757AC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6276320" cy="3377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6400" indent="-406400">
              <a:spcAft>
                <a:spcPts val="700"/>
              </a:spcAft>
              <a:buChar char="•"/>
            </a:pPr>
            <a:r>
              <a:rPr sz="2800" dirty="0" err="1">
                <a:solidFill>
                  <a:srgbClr val="000000"/>
                </a:solidFill>
                <a:latin typeface="Calibri"/>
              </a:rPr>
              <a:t>SynCura</a:t>
            </a:r>
            <a:r>
              <a:rPr sz="2800" dirty="0">
                <a:solidFill>
                  <a:srgbClr val="000000"/>
                </a:solidFill>
                <a:latin typeface="Calibri"/>
              </a:rPr>
              <a:t> demonstrates an end-to-end explainable ICU risk-monitoring workflow from clinical time-series input to dashboard output.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Temporal attention and SHAP provide an interpretable view of which time steps and features influenced the prediction.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The deployed ensemble achieved 0.840 validation AUC and 0.844 set-B holdout AUC.</a:t>
            </a:r>
          </a:p>
          <a:p>
            <a:pPr marL="406400" indent="-406400">
              <a:spcAft>
                <a:spcPts val="700"/>
              </a:spcAft>
              <a:buChar char="•"/>
            </a:pPr>
            <a:r>
              <a:rPr sz="2800" dirty="0">
                <a:solidFill>
                  <a:srgbClr val="000000"/>
                </a:solidFill>
                <a:latin typeface="Calibri"/>
              </a:rPr>
              <a:t>These results support the prototype concept, while further clinical and external validation is required before real-world use.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4000" b="1" dirty="0">
                <a:solidFill>
                  <a:srgbClr val="1757AC"/>
                </a:solidFill>
                <a:latin typeface="Calibri"/>
              </a:rPr>
              <a:t>REFERENCES</a:t>
            </a:r>
            <a:endParaRPr sz="3400" b="1" dirty="0">
              <a:solidFill>
                <a:srgbClr val="1757AC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90295" y="2894076"/>
            <a:ext cx="16303752" cy="6402629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400" dirty="0">
                <a:latin typeface="Calibri"/>
              </a:rPr>
              <a:t>[1] Zheng et al. (2025): Development and Validation of a Dynamic Real-Time Risk Prediction Model for ICU Patients Based on Longitudinal Irregular Data: Multicenter Retrospective Study. JMIR 27:e69293.</a:t>
            </a:r>
            <a:endParaRPr lang="en-IN" sz="2400" dirty="0">
              <a:latin typeface="Calibri"/>
            </a:endParaRP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400" dirty="0">
                <a:latin typeface="Calibri"/>
              </a:rPr>
              <a:t>[2] Wang, Bai &amp; Jin (2026): Explainable Deep-Learning Models for Predicting ICU Patient Outcome. Frontiers in Physiology 17.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[3] Yan et al. (2026): Deep Learning-Based In-Hospital Mortality Prediction Using Long-Term Sequential Data in ICU Patients. </a:t>
            </a:r>
            <a:r>
              <a:rPr sz="2400" dirty="0" err="1">
                <a:latin typeface="Calibri"/>
              </a:rPr>
              <a:t>PeerJ</a:t>
            </a:r>
            <a:r>
              <a:rPr sz="2400" dirty="0">
                <a:latin typeface="Calibri"/>
              </a:rPr>
              <a:t> 14:e21631.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[4] </a:t>
            </a:r>
            <a:r>
              <a:rPr sz="2400" dirty="0" err="1">
                <a:latin typeface="Calibri"/>
              </a:rPr>
              <a:t>Sadanandan</a:t>
            </a:r>
            <a:r>
              <a:rPr sz="2400" dirty="0">
                <a:latin typeface="Calibri"/>
              </a:rPr>
              <a:t> (2026): Multimodal Deep Learning for Early Prediction of Patient Deterioration in the ICU: Integrating Time-Series EHR Data with Clinical Notes. arXiv:2603.14719.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[5] Wu et al. (2024): Revisiting the Potential Value of Vital Signs in the Real-Time Prediction of Mortality Risk in ICU Patients. J Big Data 11:40.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[6] Xie et al. (2025): Unlocking the Potential of Real-Time ICU Mortality Prediction: Redefining Risk Assessment with Continuous Data Recovery. </a:t>
            </a:r>
            <a:r>
              <a:rPr sz="2400" dirty="0" err="1">
                <a:latin typeface="Calibri"/>
              </a:rPr>
              <a:t>npj</a:t>
            </a:r>
            <a:r>
              <a:rPr sz="2400" dirty="0">
                <a:latin typeface="Calibri"/>
              </a:rPr>
              <a:t> Digital Medicine 8:733.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[7] Choi et al. (2020): Deep Interpretable Early Warning System for the Detection of Clinical Deterioration. IEEE J-BHI 24(9).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[8] Scheid et al. (2025): Development and Validation of a Clinical Wearable Deep Learning Based Continuous In-Hospital Deterioration Prediction Model. Nature Communications 16:9513.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400" dirty="0">
                <a:latin typeface="Calibri"/>
              </a:rPr>
              <a:t>[9] PhysioNet (2012): Computing in Cardiology Challenge 2012 dataset. physionet.org/content/challenge-2012.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yncura-water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743200"/>
            <a:ext cx="5212080" cy="5212080"/>
          </a:xfrm>
          <a:prstGeom prst="rect">
            <a:avLst/>
          </a:prstGeom>
        </p:spPr>
      </p:pic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09728"/>
            <a:ext cx="1463040" cy="14630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7800" y="109728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0" y="0"/>
            <a:ext cx="12801600" cy="1234440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3600" b="1">
                <a:solidFill>
                  <a:srgbClr val="000000"/>
                </a:solidFill>
                <a:latin typeface="Calibri"/>
              </a:rPr>
              <a:t>P.A. COLLEGE OF ENGINEERING</a:t>
            </a:r>
            <a:br/>
            <a:r>
              <a:rPr sz="3600" b="1">
                <a:solidFill>
                  <a:srgbClr val="000000"/>
                </a:solidFill>
                <a:latin typeface="Calibri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6459200" cy="13716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ctr">
              <a:buNone/>
            </a:pPr>
            <a:r>
              <a:rPr sz="6000" b="1">
                <a:solidFill>
                  <a:srgbClr val="1757AC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1512</Words>
  <Application>Microsoft Office PowerPoint</Application>
  <PresentationFormat>Custom</PresentationFormat>
  <Paragraphs>116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Fizan Feroz</cp:lastModifiedBy>
  <cp:revision>6</cp:revision>
  <dcterms:created xsi:type="dcterms:W3CDTF">2013-01-27T09:14:16Z</dcterms:created>
  <dcterms:modified xsi:type="dcterms:W3CDTF">2026-09-18T03:20:44Z</dcterms:modified>
  <cp:category/>
</cp:coreProperties>
</file>