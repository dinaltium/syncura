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2" r:id="rId15"/>
    <p:sldId id="270" r:id="rId16"/>
    <p:sldId id="271" r:id="rId17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29" y="-2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600" b="1" dirty="0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 dirty="0" err="1">
                <a:solidFill>
                  <a:srgbClr val="000000"/>
                </a:solidFill>
                <a:latin typeface="Calibri"/>
              </a:rPr>
              <a:t>SynCura</a:t>
            </a:r>
            <a:endParaRPr sz="6000" b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400" b="1" dirty="0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30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3000">
                <a:solidFill>
                  <a:srgbClr val="000000"/>
                </a:solidFill>
                <a:latin typeface="Calibri"/>
              </a:rPr>
              <a:t>Abdul Ahad Ikkeri – 4PA24CS002
Fathima Reeha – 4PA24CS026
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8101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 err="1">
                <a:solidFill>
                  <a:srgbClr val="000000"/>
                </a:solidFill>
                <a:latin typeface="Calibri"/>
              </a:rPr>
              <a:t>SynCura</a:t>
            </a:r>
            <a:r>
              <a:rPr sz="2800" dirty="0">
                <a:solidFill>
                  <a:srgbClr val="000000"/>
                </a:solidFill>
                <a:latin typeface="Calibri"/>
              </a:rPr>
              <a:t> applies temporal deep learning to streaming-style vital and clinical measurements.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  <a:r>
              <a:rPr lang="en-IN" sz="2800" dirty="0">
                <a:solidFill>
                  <a:srgbClr val="000000"/>
                </a:solidFill>
                <a:latin typeface="Calibri"/>
              </a:rPr>
              <a:t>	1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 dirty="0">
                <a:latin typeface="Calibri"/>
              </a:rPr>
              <a:t>Base paper: Zheng et al. (2025) - Temporal-Branch Attention LSTM (TBAL), MIMIC-IV + </a:t>
            </a:r>
            <a:r>
              <a:rPr sz="2400" dirty="0" err="1">
                <a:latin typeface="Calibri"/>
              </a:rPr>
              <a:t>eICU</a:t>
            </a:r>
            <a:r>
              <a:rPr sz="2400" dirty="0">
                <a:latin typeface="Calibri"/>
              </a:rPr>
              <a:t>, dynamic AUROC ~0.936. </a:t>
            </a:r>
            <a:r>
              <a:rPr sz="2400" dirty="0" err="1">
                <a:latin typeface="Calibri"/>
              </a:rPr>
              <a:t>SynCura</a:t>
            </a:r>
            <a:r>
              <a:rPr sz="2400" dirty="0">
                <a:latin typeface="Calibri"/>
              </a:rPr>
              <a:t> adapts TBAL to PhysioNet 2012.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1: Yan et al. (2026) - single LSTM, multi-</a:t>
            </a:r>
            <a:r>
              <a:rPr sz="2400" dirty="0" err="1">
                <a:latin typeface="Calibri"/>
              </a:rPr>
              <a:t>centre</a:t>
            </a:r>
            <a:r>
              <a:rPr sz="2400" dirty="0">
                <a:latin typeface="Calibri"/>
              </a:rPr>
              <a:t> ICU, AUC 0.802.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2: </a:t>
            </a:r>
            <a:r>
              <a:rPr sz="2400" dirty="0" err="1">
                <a:latin typeface="Calibri"/>
              </a:rPr>
              <a:t>Sadanandan</a:t>
            </a:r>
            <a:r>
              <a:rPr sz="2400" dirty="0">
                <a:latin typeface="Calibri"/>
              </a:rPr>
              <a:t> (2026) - multimodal LSTM + </a:t>
            </a:r>
            <a:r>
              <a:rPr sz="2400" dirty="0" err="1">
                <a:latin typeface="Calibri"/>
              </a:rPr>
              <a:t>ClinicalBERT</a:t>
            </a:r>
            <a:r>
              <a:rPr sz="2400" dirty="0">
                <a:latin typeface="Calibri"/>
              </a:rPr>
              <a:t>, AUROC 0.786.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3: Wu et al. (2024) - vital-signs-only LSTM, AUC 0.926.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4: Xie et al. (2025) - </a:t>
            </a:r>
            <a:r>
              <a:rPr sz="2400" dirty="0" err="1">
                <a:latin typeface="Calibri"/>
              </a:rPr>
              <a:t>RealMIP</a:t>
            </a:r>
            <a:r>
              <a:rPr sz="2400" dirty="0">
                <a:latin typeface="Calibri"/>
              </a:rPr>
              <a:t> missing-data recovery, AUC 0.957-0.968.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5: Choi et al. (2020) - interpretable </a:t>
            </a:r>
            <a:r>
              <a:rPr sz="2400" dirty="0" err="1">
                <a:latin typeface="Calibri"/>
              </a:rPr>
              <a:t>BiLSTM</a:t>
            </a:r>
            <a:r>
              <a:rPr sz="2400" dirty="0">
                <a:latin typeface="Calibri"/>
              </a:rPr>
              <a:t> early-warning, AUROC ~0.880.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6: Scheid et al. (2025) - continuous wearable deep learning, AUROC ~0.890.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Support 7: Wang, Bai &amp; Jin (2026) - explainable LSTM, AUC 0.79-0.87.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400" dirty="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Authors: Zheng et al. (2025) - JMIR vol. 27, e69293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Method: Temporal-Branch Attention LSTM (TBAL); longitudinal irregular EHR; MIMIC-IV + </a:t>
            </a:r>
            <a:r>
              <a:rPr sz="2800" dirty="0" err="1">
                <a:latin typeface="Calibri"/>
              </a:rPr>
              <a:t>eICU</a:t>
            </a:r>
            <a:endParaRPr sz="2800" dirty="0">
              <a:latin typeface="Calibri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Dynamic AUROC ~0.936; static ~0.812; recall 79.1%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 err="1">
                <a:latin typeface="Calibri"/>
              </a:rPr>
              <a:t>SynCura</a:t>
            </a:r>
            <a:r>
              <a:rPr sz="2800" dirty="0">
                <a:latin typeface="Calibri"/>
              </a:rPr>
              <a:t> adapts TBAL: 90-min rolling window, 12 features, temporal attention, PhysioNet 2012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6" y="3261665"/>
            <a:ext cx="11394616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Deployable path: </a:t>
            </a:r>
            <a:r>
              <a:rPr sz="2500" dirty="0" err="1">
                <a:solidFill>
                  <a:srgbClr val="000000"/>
                </a:solidFill>
                <a:latin typeface="Calibri"/>
              </a:rPr>
              <a:t>FastAPI</a:t>
            </a:r>
            <a:r>
              <a:rPr sz="2500" dirty="0">
                <a:solidFill>
                  <a:srgbClr val="000000"/>
                </a:solidFill>
                <a:latin typeface="Calibri"/>
              </a:rPr>
              <a:t>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6343" y="3040844"/>
            <a:ext cx="6061657" cy="43520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70037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0929" y="2743200"/>
            <a:ext cx="6413166" cy="561152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rcRect b="44821"/>
          <a:stretch>
            <a:fillRect/>
          </a:stretch>
        </p:blipFill>
        <p:spPr>
          <a:xfrm>
            <a:off x="11739719" y="2587531"/>
            <a:ext cx="6411122" cy="22994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73240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Reported what papers often skip: false-alarm rate, specificity, precision,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Next steps: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eICU</a:t>
            </a:r>
            <a:r>
              <a:rPr sz="2800" dirty="0">
                <a:solidFill>
                  <a:srgbClr val="000000"/>
                </a:solidFill>
                <a:latin typeface="Calibri"/>
              </a:rPr>
              <a:t>/MIMIC external validation, robust missing-data handling, time-aware attention, and a prospective clinical pilot.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94076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Backend: Python 3.10, </a:t>
            </a:r>
            <a:r>
              <a:rPr sz="2800" dirty="0" err="1">
                <a:latin typeface="Calibri"/>
              </a:rPr>
              <a:t>FastAPI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Two LSTM hidden layers (96 units) + Temporal Attention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Microservices: </a:t>
            </a:r>
            <a:r>
              <a:rPr sz="2800" dirty="0" err="1">
                <a:latin typeface="Calibri"/>
              </a:rPr>
              <a:t>FastAPI</a:t>
            </a:r>
            <a:r>
              <a:rPr sz="2800" dirty="0">
                <a:latin typeface="Calibri"/>
              </a:rPr>
              <a:t> real-time backend, React + Vite frontend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Edge/stream ingestion: MQTT with Eclipse </a:t>
            </a:r>
            <a:r>
              <a:rPr sz="2800" dirty="0" err="1">
                <a:latin typeface="Calibri"/>
              </a:rPr>
              <a:t>Mosquitto</a:t>
            </a:r>
            <a:endParaRPr sz="2800" dirty="0"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dirty="0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900" b="1" dirty="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600" dirty="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  <a:endParaRPr lang="en-IN" sz="2600" dirty="0">
              <a:solidFill>
                <a:srgbClr val="000000"/>
              </a:solidFill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600" dirty="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dirty="0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External validation on MIMIC-IV and </a:t>
            </a:r>
            <a:r>
              <a:rPr sz="3200" dirty="0" err="1">
                <a:solidFill>
                  <a:srgbClr val="000000"/>
                </a:solidFill>
                <a:latin typeface="Calibri"/>
              </a:rPr>
              <a:t>eICU</a:t>
            </a:r>
            <a:r>
              <a:rPr sz="3200" dirty="0">
                <a:solidFill>
                  <a:srgbClr val="000000"/>
                </a:solidFill>
                <a:latin typeface="Calibri"/>
              </a:rPr>
              <a:t>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39550" y="2011680"/>
            <a:ext cx="30089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dirty="0">
                <a:solidFill>
                  <a:srgbClr val="1757AC"/>
                </a:solidFill>
                <a:latin typeface="Calibri"/>
              </a:rPr>
              <a:t>CONCLUSION</a:t>
            </a:r>
            <a:endParaRPr sz="3400" b="1" dirty="0">
              <a:solidFill>
                <a:srgbClr val="1757A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3377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800" dirty="0" err="1">
                <a:solidFill>
                  <a:srgbClr val="000000"/>
                </a:solidFill>
                <a:latin typeface="Calibri"/>
              </a:rPr>
              <a:t>SynCura</a:t>
            </a:r>
            <a:r>
              <a:rPr sz="2800" dirty="0">
                <a:solidFill>
                  <a:srgbClr val="000000"/>
                </a:solidFill>
                <a:latin typeface="Calibri"/>
              </a:rPr>
              <a:t>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REFERENCES</a:t>
            </a:r>
            <a:endParaRPr sz="3400" b="1" dirty="0">
              <a:solidFill>
                <a:srgbClr val="1757A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90295" y="2894076"/>
            <a:ext cx="16303752" cy="6402629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 dirty="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  <a:endParaRPr lang="en-IN" sz="24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 dirty="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[3] Yan et al. (2026): Deep Learning-Based In-Hospital Mortality Prediction Using Long-Term Sequential Data in ICU Patients. </a:t>
            </a:r>
            <a:r>
              <a:rPr sz="2400" dirty="0" err="1">
                <a:latin typeface="Calibri"/>
              </a:rPr>
              <a:t>PeerJ</a:t>
            </a:r>
            <a:r>
              <a:rPr sz="2400" dirty="0">
                <a:latin typeface="Calibri"/>
              </a:rPr>
              <a:t> 14:e21631.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[4] </a:t>
            </a:r>
            <a:r>
              <a:rPr sz="2400" dirty="0" err="1">
                <a:latin typeface="Calibri"/>
              </a:rPr>
              <a:t>Sadanandan</a:t>
            </a:r>
            <a:r>
              <a:rPr sz="2400" dirty="0">
                <a:latin typeface="Calibri"/>
              </a:rPr>
              <a:t> (2026): Multimodal Deep Learning for Early Prediction of Patient Deterioration in the ICU: Integrating Time-Series EHR Data with Clinical Notes. arXiv:2603.14719.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[6] Xie et al. (2025): Unlocking the Potential of Real-Time ICU Mortality Prediction: Redefining Risk Assessment with Continuous Data Recovery. </a:t>
            </a:r>
            <a:r>
              <a:rPr sz="2400" dirty="0" err="1">
                <a:latin typeface="Calibri"/>
              </a:rPr>
              <a:t>npj</a:t>
            </a:r>
            <a:r>
              <a:rPr sz="2400" dirty="0">
                <a:latin typeface="Calibri"/>
              </a:rPr>
              <a:t> Digital Medicine 8:733.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1512</Words>
  <Application>Microsoft Office PowerPoint</Application>
  <PresentationFormat>Custom</PresentationFormat>
  <Paragraphs>116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Fizan Feroz</cp:lastModifiedBy>
  <cp:revision>4</cp:revision>
  <dcterms:created xsi:type="dcterms:W3CDTF">2013-01-27T09:14:16Z</dcterms:created>
  <dcterms:modified xsi:type="dcterms:W3CDTF">2026-09-18T02:15:13Z</dcterms:modified>
  <cp:category/>
</cp:coreProperties>
</file>