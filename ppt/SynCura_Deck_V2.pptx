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1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60" r:id="rId9"/>
    <p:sldId id="258" r:id="rId7"/>
    <p:sldId id="259" r:id="rId8"/>
    <p:sldId id="268" r:id="rId17"/>
    <p:sldId id="269" r:id="rId18"/>
    <p:sldId id="261" r:id="rId10"/>
    <p:sldId id="270" r:id="rId19"/>
    <p:sldId id="262" r:id="rId11"/>
    <p:sldId id="271" r:id="rId20"/>
    <p:sldId id="265" r:id="rId14"/>
    <p:sldId id="272" r:id="rId21"/>
    <p:sldId id="273" r:id="rId13"/>
    <p:sldId id="263" r:id="rId12"/>
    <p:sldId id="266" r:id="rId15"/>
    <p:sldId id="267" r:id="rId16"/>
  </p:sldIdLst>
  <p:sldSz cy="10287000" cx="18288000"/>
  <p:notesSz cx="10287000" cy="18288000"/>
  <p:defaultTextStyle>
    <a:defPPr lvl="0"/>
    <a:lvl1pPr defTabSz="914400" eaLnBrk="1" hangingPunct="1" latinLnBrk="0" lvl="0" marL="0" rtl="0" algn="l">
      <a:defRPr kern="1200" sz="1800">
        <a:solidFill>
          <a:schemeClr val="tx1"/>
        </a:solidFill>
        <a:latin typeface="+mn-lt"/>
        <a:ea typeface="+mn-ea"/>
        <a:cs typeface="+mn-cs"/>
      </a:defRPr>
    </a:lvl1pPr>
    <a:lvl2pPr defTabSz="914400" eaLnBrk="1" hangingPunct="1" latinLnBrk="0" lvl="1" marL="457200" rtl="0" algn="l">
      <a:defRPr kern="1200" sz="1800">
        <a:solidFill>
          <a:schemeClr val="tx1"/>
        </a:solidFill>
        <a:latin typeface="+mn-lt"/>
        <a:ea typeface="+mn-ea"/>
        <a:cs typeface="+mn-cs"/>
      </a:defRPr>
    </a:lvl2pPr>
    <a:lvl3pPr defTabSz="914400" eaLnBrk="1" hangingPunct="1" latinLnBrk="0" lvl="2" marL="914400" rtl="0" algn="l">
      <a:defRPr kern="1200" sz="1800">
        <a:solidFill>
          <a:schemeClr val="tx1"/>
        </a:solidFill>
        <a:latin typeface="+mn-lt"/>
        <a:ea typeface="+mn-ea"/>
        <a:cs typeface="+mn-cs"/>
      </a:defRPr>
    </a:lvl3pPr>
    <a:lvl4pPr defTabSz="914400" eaLnBrk="1" hangingPunct="1" latinLnBrk="0" lvl="3" marL="1371600" rtl="0" algn="l">
      <a:defRPr kern="1200" sz="1800">
        <a:solidFill>
          <a:schemeClr val="tx1"/>
        </a:solidFill>
        <a:latin typeface="+mn-lt"/>
        <a:ea typeface="+mn-ea"/>
        <a:cs typeface="+mn-cs"/>
      </a:defRPr>
    </a:lvl4pPr>
    <a:lvl5pPr defTabSz="914400" eaLnBrk="1" hangingPunct="1" latinLnBrk="0" lvl="4" marL="1828800" rtl="0" algn="l">
      <a:defRPr kern="1200" sz="1800">
        <a:solidFill>
          <a:schemeClr val="tx1"/>
        </a:solidFill>
        <a:latin typeface="+mn-lt"/>
        <a:ea typeface="+mn-ea"/>
        <a:cs typeface="+mn-cs"/>
      </a:defRPr>
    </a:lvl5pPr>
    <a:lvl6pPr defTabSz="914400" eaLnBrk="1" hangingPunct="1" latinLnBrk="0" lvl="5" marL="2286000" rtl="0" algn="l">
      <a:defRPr kern="1200" sz="1800">
        <a:solidFill>
          <a:schemeClr val="tx1"/>
        </a:solidFill>
        <a:latin typeface="+mn-lt"/>
        <a:ea typeface="+mn-ea"/>
        <a:cs typeface="+mn-cs"/>
      </a:defRPr>
    </a:lvl6pPr>
    <a:lvl7pPr defTabSz="914400" eaLnBrk="1" hangingPunct="1" latinLnBrk="0" lvl="6" marL="2743200" rtl="0" algn="l">
      <a:defRPr kern="1200" sz="1800">
        <a:solidFill>
          <a:schemeClr val="tx1"/>
        </a:solidFill>
        <a:latin typeface="+mn-lt"/>
        <a:ea typeface="+mn-ea"/>
        <a:cs typeface="+mn-cs"/>
      </a:defRPr>
    </a:lvl7pPr>
    <a:lvl8pPr defTabSz="914400" eaLnBrk="1" hangingPunct="1" latinLnBrk="0" lvl="7" marL="3200400" rtl="0" algn="l">
      <a:defRPr kern="1200" sz="1800">
        <a:solidFill>
          <a:schemeClr val="tx1"/>
        </a:solidFill>
        <a:latin typeface="+mn-lt"/>
        <a:ea typeface="+mn-ea"/>
        <a:cs typeface="+mn-cs"/>
      </a:defRPr>
    </a:lvl8pPr>
    <a:lvl9pPr defTabSz="914400" eaLnBrk="1" hangingPunct="1" latinLnBrk="0" lvl="8" marL="3657600" rtl="0" algn="l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1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1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2.xml"/><Relationship Id="rId10" Type="http://schemas.openxmlformats.org/officeDocument/2006/relationships/slide" Target="slides/slide7.xml"/><Relationship Id="rId11" Type="http://schemas.openxmlformats.org/officeDocument/2006/relationships/slide" Target="slides/slide9.xml"/><Relationship Id="rId12" Type="http://schemas.openxmlformats.org/officeDocument/2006/relationships/slide" Target="slides/slide14.xml"/><Relationship Id="rId13" Type="http://schemas.openxmlformats.org/officeDocument/2006/relationships/slide" Target="slides/slide13.xml"/><Relationship Id="rId14" Type="http://schemas.openxmlformats.org/officeDocument/2006/relationships/slide" Target="slides/slide11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8.xml"/><Relationship Id="rId20" Type="http://schemas.openxmlformats.org/officeDocument/2006/relationships/slide" Target="slides/slide10.xml"/><Relationship Id="rId21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2-1.png"/><Relationship Id="rId3" Type="http://schemas.openxmlformats.org/officeDocument/2006/relationships/image" Target="../media/image-2-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2-1.png"/><Relationship Id="rId3" Type="http://schemas.openxmlformats.org/officeDocument/2006/relationships/image" Target="../media/image-2-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2-1.png"/><Relationship Id="rId3" Type="http://schemas.openxmlformats.org/officeDocument/2006/relationships/image" Target="../media/image-2-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9-1.png"/><Relationship Id="rId3" Type="http://schemas.openxmlformats.org/officeDocument/2006/relationships/image" Target="../media/image-9-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2-1.png"/><Relationship Id="rId3" Type="http://schemas.openxmlformats.org/officeDocument/2006/relationships/image" Target="../media/image-2-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ns2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vtu_logo.png">    </p:cNvPr>
          <p:cNvPicPr>
            <a:picLocks noChangeAspect="1"/>
          </p:cNvPicPr>
          <p:nvPr/>
        </p:nvPicPr>
        <p:blipFill>
          <a:blip ns2:embed="rId1"/>
          <a:stretch>
            <a:fillRect/>
          </a:stretch>
        </p:blipFill>
        <p:spPr>
          <a:xfrm>
            <a:off x="0" y="0"/>
            <a:ext cx="2315261" cy="2179015"/>
          </a:xfrm>
          <a:prstGeom prst="rect">
            <a:avLst/>
          </a:prstGeom>
        </p:spPr>
      </p:pic>
      <p:pic>
        <p:nvPicPr>
          <p:cNvPr id="3" name="Image 1" descr="pace_logo.png">    </p:cNvPr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15972739" y="0"/>
            <a:ext cx="2315261" cy="2179015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4073652" y="886054"/>
            <a:ext cx="1011326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28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P.A. COLLEGE OF ENGINEERING
</a:t>
            </a:r>
            <a:pPr algn="ctr" indent="0" marL="0">
              <a:lnSpc>
                <a:spcPct val="150000"/>
              </a:lnSpc>
              <a:buNone/>
            </a:pPr>
            <a:r>
              <a:rPr lang="en-US" sz="20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DEPARTMENT OF COMPUTER SCIENCE &amp; ENGINEERING</a:t>
            </a:r>
            <a:endParaRPr lang="en-US" sz="2800" dirty="0"/>
          </a:p>
        </p:txBody>
      </p:sp>
      <p:sp>
        <p:nvSpPr>
          <p:cNvPr id="5" name="Text 1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SynCura</a:t>
            </a:r>
            <a:endParaRPr lang="en-US" sz="6000" dirty="0"/>
          </a:p>
        </p:txBody>
      </p:sp>
      <p:sp>
        <p:nvSpPr>
          <p:cNvPr id="6" name="Text 2"/>
          <p:cNvSpPr txBox="1"/>
          <p:nvPr/>
        </p:nvSpPr>
        <p:spPr>
          <a:xfrm>
            <a:off x="1280160" y="3063240"/>
            <a:ext cx="15727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32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Predictive ICU Monitoring System Using Attention-Based LSTM with Real-Time Explainability</a:t>
            </a:r>
            <a:endParaRPr lang="en-US" sz="3200" dirty="0"/>
          </a:p>
        </p:txBody>
      </p:sp>
      <p:sp>
        <p:nvSpPr>
          <p:cNvPr id="7" name="Text 3"/>
          <p:cNvSpPr txBox="1"/>
          <p:nvPr/>
        </p:nvSpPr>
        <p:spPr>
          <a:xfrm>
            <a:off x="850392" y="6236208"/>
            <a:ext cx="64465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28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TEAM MEMBERS :
</a:t>
            </a:r>
            <a:pPr indent="0" marL="0">
              <a:lnSpc>
                <a:spcPct val="150000"/>
              </a:lnSpc>
              <a:buNone/>
            </a:pPr>
            <a:r>
              <a:rPr lang="en-US" sz="28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Abdul Ahad Ikkeri – 4PA24CS002
</a:t>
            </a:r>
            <a:pPr indent="0" marL="0">
              <a:lnSpc>
                <a:spcPct val="150000"/>
              </a:lnSpc>
              <a:buNone/>
            </a:pPr>
            <a:r>
              <a:rPr lang="en-US" sz="28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Fathima Reeha – 4PA24CS026
</a:t>
            </a:r>
            <a:pPr indent="0" marL="0">
              <a:lnSpc>
                <a:spcPct val="150000"/>
              </a:lnSpc>
              <a:buNone/>
            </a:pPr>
            <a:r>
              <a:rPr lang="en-US" sz="28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Fizan Feroz – 4PA24CS032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10808208" y="6236208"/>
            <a:ext cx="608990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dirty="0" sz="28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ns2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vtu_logo.png">    </p:cNvPr>
          <p:cNvPicPr>
            <a:picLocks noChangeAspect="1"/>
          </p:cNvPicPr>
          <p:nvPr/>
        </p:nvPicPr>
        <p:blipFill>
          <a:blip ns2:embed="rId1"/>
          <a:stretch>
            <a:fillRect/>
          </a:stretch>
        </p:blipFill>
        <p:spPr>
          <a:xfrm>
            <a:off x="0" y="0"/>
            <a:ext cx="2315261" cy="2179015"/>
          </a:xfrm>
          <a:prstGeom prst="rect">
            <a:avLst/>
          </a:prstGeom>
        </p:spPr>
      </p:pic>
      <p:pic>
        <p:nvPicPr>
          <p:cNvPr id="3" name="Image 1" descr="pace_logo.png">    </p:cNvPr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15972739" y="0"/>
            <a:ext cx="2315261" cy="2179015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4073652" y="886054"/>
            <a:ext cx="1011326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28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P.A. COLLEGE OF ENGINEERING
</a:t>
            </a:r>
            <a:pPr algn="ctr" indent="0" marL="0">
              <a:lnSpc>
                <a:spcPct val="150000"/>
              </a:lnSpc>
              <a:buNone/>
            </a:pPr>
            <a:r>
              <a:rPr lang="en-US" sz="20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DEPARTMENT OF COMPUTER SCIENCE &amp; ENGINEERING</a:t>
            </a:r>
            <a:endParaRPr lang="en-US" sz="2800" dirty="0"/>
          </a:p>
        </p:txBody>
      </p:sp>
      <p:sp>
        <p:nvSpPr>
          <p:cNvPr id="5" name="Text 1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757A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PROBLEM STATEMENT</a:t>
            </a:r>
            <a:endParaRPr sz="3400"/>
          </a:p>
        </p:txBody>
      </p:sp>
      <p:sp>
        <p:nvSpPr>
          <p:cNvPr id="6" name="Text 2"/>
          <p:cNvSpPr txBox="1"/>
          <p:nvPr/>
        </p:nvSpPr>
        <p:spPr>
          <a:xfrm>
            <a:off x="990295" y="3261665"/>
            <a:ext cx="1630375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ICU deterioration is difficult to identify early from isolated measurements and manual score calculations.</a:t>
            </a:r>
            <a:endParaRPr sz="2200"/>
          </a:p>
          <a:p>
            <a:pPr indent="0" marL="0">
              <a:lnSpc>
                <a:spcPct val="15000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Existing rule-based scores do not fully capture the direction, duration, and interaction of changing observations.</a:t>
            </a:r>
            <a:endParaRPr sz="2200"/>
          </a:p>
          <a:p>
            <a:pPr indent="0" marL="0">
              <a:lnSpc>
                <a:spcPct val="15000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Clinicians need an early-warning aid that processes recent patient history and presents understandable reasons for its risk score.</a:t>
            </a:r>
            <a:endParaRPr sz="2200"/>
          </a:p>
          <a:p>
            <a:pPr indent="0" marL="0">
              <a:lnSpc>
                <a:spcPct val="15000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challenge is to build and evaluate a real-time, explainable prototype without presenting it as a validated clinical device.</a:t>
            </a:r>
            <a:endParaRPr sz="22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ns2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vtu_logo.png">    </p:cNvPr>
          <p:cNvPicPr>
            <a:picLocks noChangeAspect="1"/>
          </p:cNvPicPr>
          <p:nvPr/>
        </p:nvPicPr>
        <p:blipFill>
          <a:blip ns2:embed="rId1"/>
          <a:stretch>
            <a:fillRect/>
          </a:stretch>
        </p:blipFill>
        <p:spPr>
          <a:xfrm>
            <a:off x="0" y="0"/>
            <a:ext cx="2315261" cy="2179015"/>
          </a:xfrm>
          <a:prstGeom prst="rect">
            <a:avLst/>
          </a:prstGeom>
        </p:spPr>
      </p:pic>
      <p:pic>
        <p:nvPicPr>
          <p:cNvPr id="3" name="Image 1" descr="pace_logo.png">    </p:cNvPr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15972739" y="0"/>
            <a:ext cx="2315261" cy="2179015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4073652" y="886054"/>
            <a:ext cx="1011326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28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P.A. COLLEGE OF ENGINEERING
</a:t>
            </a:r>
            <a:pPr algn="ctr" indent="0" marL="0">
              <a:lnSpc>
                <a:spcPct val="150000"/>
              </a:lnSpc>
              <a:buNone/>
            </a:pPr>
            <a:r>
              <a:rPr lang="en-US" sz="20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DEPARTMENT OF COMPUTER SCIENCE &amp; ENGINEERING</a:t>
            </a:r>
            <a:endParaRPr lang="en-US" sz="2800" dirty="0"/>
          </a:p>
        </p:txBody>
      </p:sp>
      <p:sp>
        <p:nvSpPr>
          <p:cNvPr id="5" name="Text 1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sz="3400" b="1">
                <a:solidFill>
                  <a:srgbClr val="1757AC"/>
                </a:solidFill>
                <a:latin typeface="Times New Roman"/>
              </a:rPr>
              <a:t>MOTIVATION / NEED FOR THE PROJECT</a:t>
            </a:r>
            <a:endParaRPr sz="3400"/>
          </a:p>
        </p:txBody>
      </p:sp>
      <p:sp>
        <p:nvSpPr>
          <p:cNvPr id="6" name="Text 2"/>
          <p:cNvSpPr txBox="1"/>
          <p:nvPr/>
        </p:nvSpPr>
        <p:spPr>
          <a:xfrm>
            <a:off x="990295" y="3261665"/>
            <a:ext cx="16303752" cy="6035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2200">
                <a:solidFill>
                  <a:srgbClr val="000000"/>
                </a:solidFill>
                <a:latin typeface="Times New Roman"/>
              </a:rPr>
              <a:t>ICU deterioration can progress rapidly, making early recognition important for timely clinical intervention.</a:t>
            </a:r>
            <a:endParaRPr sz="2200"/>
          </a:p>
          <a:p>
            <a:pPr/>
            <a:r>
              <a:rPr sz="2200">
                <a:solidFill>
                  <a:srgbClr val="000000"/>
                </a:solidFill>
                <a:latin typeface="Times New Roman"/>
              </a:rPr>
              <a:t>Rule-based scores such as NEWS2 and SOFA use threshold-driven assessments and do not directly model longitudinal trends.</a:t>
            </a:r>
          </a:p>
          <a:p>
            <a:pPr/>
            <a:r>
              <a:rPr sz="2200">
                <a:solidFill>
                  <a:srgbClr val="000000"/>
                </a:solidFill>
                <a:latin typeface="Times New Roman"/>
              </a:rPr>
              <a:t>SynCura applies temporal deep learning to streaming-style vital and clinical measurements.</a:t>
            </a:r>
          </a:p>
          <a:p>
            <a:pPr/>
            <a:r>
              <a:rPr sz="2200">
                <a:solidFill>
                  <a:srgbClr val="000000"/>
                </a:solidFill>
                <a:latin typeface="Times New Roman"/>
              </a:rPr>
              <a:t>The project focuses on an explainable software prototype, not autonomous clinical decision-making.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ns2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vtu_logo.png">    </p:cNvPr>
          <p:cNvPicPr>
            <a:picLocks noChangeAspect="1"/>
          </p:cNvPicPr>
          <p:nvPr/>
        </p:nvPicPr>
        <p:blipFill>
          <a:blip ns2:embed="rId1"/>
          <a:stretch>
            <a:fillRect/>
          </a:stretch>
        </p:blipFill>
        <p:spPr>
          <a:xfrm>
            <a:off x="0" y="0"/>
            <a:ext cx="2315261" cy="2179015"/>
          </a:xfrm>
          <a:prstGeom prst="rect">
            <a:avLst/>
          </a:prstGeom>
        </p:spPr>
      </p:pic>
      <p:pic>
        <p:nvPicPr>
          <p:cNvPr id="3" name="Image 1" descr="pace_logo.png">    </p:cNvPr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15972739" y="0"/>
            <a:ext cx="2315261" cy="2179015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4073652" y="886054"/>
            <a:ext cx="1011326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28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P.A. COLLEGE OF ENGINEERING
</a:t>
            </a:r>
            <a:pPr algn="ctr" indent="0" marL="0">
              <a:lnSpc>
                <a:spcPct val="150000"/>
              </a:lnSpc>
              <a:buNone/>
            </a:pPr>
            <a:r>
              <a:rPr lang="en-US" sz="20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DEPARTMENT OF COMPUTER SCIENCE &amp; ENGINEERING</a:t>
            </a:r>
            <a:endParaRPr lang="en-US" sz="2800" dirty="0"/>
          </a:p>
        </p:txBody>
      </p:sp>
      <p:sp>
        <p:nvSpPr>
          <p:cNvPr id="5" name="Text 1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sz="3400" b="1">
                <a:solidFill>
                  <a:srgbClr val="1757AC"/>
                </a:solidFill>
                <a:latin typeface="Times New Roman"/>
              </a:rPr>
              <a:t>EXISTING SYSTEM / RELATED WORK</a:t>
            </a:r>
            <a:endParaRPr sz="3400"/>
          </a:p>
        </p:txBody>
      </p:sp>
      <p:sp>
        <p:nvSpPr>
          <p:cNvPr id="6" name="Text 2"/>
          <p:cNvSpPr txBox="1"/>
          <p:nvPr/>
        </p:nvSpPr>
        <p:spPr>
          <a:xfrm>
            <a:off x="990295" y="3261665"/>
            <a:ext cx="16303752" cy="6035040"/>
          </a:xfrm>
          <a:prstGeom prst="rect">
            <a:avLst/>
          </a:prstGeom>
          <a:noFill/>
          <a:ln/>
        </p:spPr>
        <p:txBody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lang="en-US" sz="1500" dirty="0" b="1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BASE PAPER - Zheng et al. (2025): Time-aware bidirectional attention LSTM for real-time ICU mortality (MIMIC-IV + eICU, dynamic AUROC 0.936). Adapted by SynCura on PhysioNet 2012.</a:t>
            </a:r>
            <a:endParaRPr sz="1500"/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lang="en-US" sz="1500" dirty="0" b="1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Supporting papers:</a:t>
            </a:r>
            <a:endParaRPr sz="1500"/>
          </a:p>
          <a:bodyPr wrap="square" lIns="0" tIns="0" rIns="0" bIns="0" rtlCol="0" anchor="t"/>
          <a:lstStyle/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Wang, Bai and Jin (2026) - Explainable LSTM models for ICU outcomes; AUC 0.79-0.87.</a:t>
            </a:r>
            <a:endParaRPr sz="1500"/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Yan et al. (2026) - Sequential ICU mortality models; plain LSTM AUC 0.802.</a:t>
            </a:r>
            <a:endParaRPr sz="1500"/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Sadanandan (2026) - Multimodal time-series and clinical-note fusion; AUROC 0.7857.</a:t>
            </a:r>
            <a:endParaRPr sz="1500"/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Wu et al. (2024) - Real-time vital-sign mortality prediction; LSTM AUC 0.9263.</a:t>
            </a:r>
            <a:endParaRPr sz="1500"/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Xie et al. (2025) - RealMIP continuous-data recovery for ICU mortality prediction.</a:t>
            </a:r>
            <a:endParaRPr sz="1500"/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Choi et al. (2020) - Deep interpretable early warning with BiLSTM attention.</a:t>
            </a:r>
            <a:endParaRPr sz="1500"/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 et al. (2025) - Attention residual LSTM-FCN for clinical time-series prediction.</a:t>
            </a:r>
            <a:endParaRPr sz="1500"/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Scheid et al. (2025) - Wearable deep learning for continuous in-hospital deterioration prediction.</a:t>
            </a:r>
            <a:endParaRPr sz="15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vtu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315261" cy="2179015"/>
          </a:xfrm>
          <a:prstGeom prst="rect">
            <a:avLst/>
          </a:prstGeom>
        </p:spPr>
      </p:pic>
      <p:pic>
        <p:nvPicPr>
          <p:cNvPr id="3" name="Image 1" descr="pace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72739" y="0"/>
            <a:ext cx="2315261" cy="2179015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4073652" y="886054"/>
            <a:ext cx="1011326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28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P.A. COLLEGE OF ENGINEERING
</a:t>
            </a:r>
            <a:pPr algn="ctr" indent="0" marL="0">
              <a:lnSpc>
                <a:spcPct val="150000"/>
              </a:lnSpc>
              <a:buNone/>
            </a:pPr>
            <a:r>
              <a:rPr lang="en-US" sz="20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DEPARTMENT OF COMPUTER SCIENCE &amp; ENGINEERING</a:t>
            </a:r>
            <a:endParaRPr lang="en-US" sz="2800" dirty="0"/>
          </a:p>
        </p:txBody>
      </p:sp>
      <p:sp>
        <p:nvSpPr>
          <p:cNvPr id="5" name="Text 1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sz="3400" b="1">
                <a:solidFill>
                  <a:srgbClr val="1757AC"/>
                </a:solidFill>
                <a:latin typeface="Times New Roman"/>
              </a:rPr>
              <a:t>BASE PAPER / REFERENCE PAPER</a:t>
            </a:r>
            <a:endParaRPr sz="3400"/>
          </a:p>
        </p:txBody>
      </p:sp>
      <p:sp>
        <p:nvSpPr>
          <p:cNvPr id="6" name="Text 2"/>
          <p:cNvSpPr txBox="1"/>
          <p:nvPr/>
        </p:nvSpPr>
        <p:spPr>
          <a:xfrm>
            <a:off x="990295" y="3261665"/>
            <a:ext cx="16303752" cy="6035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2100">
                <a:solidFill>
                  <a:srgbClr val="000000"/>
                </a:solidFill>
                <a:latin typeface="Times New Roman"/>
              </a:rPr>
              <a:t>Title: Development and Validation of a Dynamic Real-Time Risk Prediction Model for ICU Patients Based on Longitudinal Irregular Data.</a:t>
            </a:r>
            <a:endParaRPr sz="2100"/>
          </a:p>
          <a:p>
            <a:pPr/>
            <a:r>
              <a:rPr sz="2100">
                <a:solidFill>
                  <a:srgbClr val="000000"/>
                </a:solidFill>
                <a:latin typeface="Times New Roman"/>
              </a:rPr>
              <a:t>Authors: Zheng, Luo, Zhu, Du, Lan, Zhou, Yang and Huang. Year: 2025. Journal: JMIR, vol. 27, e69293.</a:t>
            </a:r>
          </a:p>
          <a:p>
            <a:pPr/>
            <a:r>
              <a:rPr sz="2100">
                <a:solidFill>
                  <a:srgbClr val="000000"/>
                </a:solidFill>
                <a:latin typeface="Times New Roman"/>
              </a:rPr>
              <a:t>Method: time-aware bidirectional attention LSTM (TBAL) on 176,344 ICU stays from MIMIC-IV with eICU cross-validation; hourly risk updates.</a:t>
            </a:r>
          </a:p>
          <a:p>
            <a:pPr/>
            <a:r>
              <a:rPr sz="2100">
                <a:solidFill>
                  <a:srgbClr val="000000"/>
                </a:solidFill>
                <a:latin typeface="Times New Roman"/>
              </a:rPr>
              <a:t>Results: dynamic AUROC 0.936 on MIMIC-IV and 0.919 on external eICU data; recall 79.1%.</a:t>
            </a:r>
          </a:p>
          <a:p>
            <a:pPr/>
            <a:r>
              <a:rPr sz="2100">
                <a:solidFill>
                  <a:srgbClr val="000000"/>
                </a:solidFill>
                <a:latin typeface="Times New Roman"/>
              </a:rPr>
              <a:t>Adaptation: same architecture-task match - attention LSTM for real-time ICU risk; SynCura adds SHAP feature explanations.</a:t>
            </a:r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2100" b="0">
                <a:solidFill>
                  <a:srgbClr val="000000"/>
                </a:solidFill>
                <a:latin typeface="Times New Roman"/>
              </a:rPr>
              <a:t>Limitation: retrospective data till discharge; AUROC rises to 98.9 at discharge (hindsight bias). SynCura fixes this with 90-min only, no future info.</a:t>
            </a:r>
            <a:endParaRPr sz="21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vtu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315261" cy="2179015"/>
          </a:xfrm>
          <a:prstGeom prst="rect">
            <a:avLst/>
          </a:prstGeom>
        </p:spPr>
      </p:pic>
      <p:pic>
        <p:nvPicPr>
          <p:cNvPr id="3" name="Image 1" descr="pace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72739" y="0"/>
            <a:ext cx="2315261" cy="2179015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4073652" y="886054"/>
            <a:ext cx="1011326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28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P.A. COLLEGE OF ENGINEERING
</a:t>
            </a:r>
            <a:pPr algn="ctr" indent="0" marL="0">
              <a:lnSpc>
                <a:spcPct val="150000"/>
              </a:lnSpc>
              <a:buNone/>
            </a:pPr>
            <a:r>
              <a:rPr lang="en-US" sz="20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DEPARTMENT OF COMPUTER SCIENCE &amp; ENGINEERING</a:t>
            </a:r>
            <a:endParaRPr lang="en-US" sz="2800" dirty="0"/>
          </a:p>
        </p:txBody>
      </p:sp>
      <p:sp>
        <p:nvSpPr>
          <p:cNvPr id="5" name="Text 1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sz="3400" b="1">
                <a:solidFill>
                  <a:srgbClr val="1757AC"/>
                </a:solidFill>
                <a:latin typeface="Times New Roman"/>
              </a:rPr>
              <a:t>PROPOSED SOLUTION</a:t>
            </a:r>
            <a:endParaRPr sz="3400"/>
          </a:p>
        </p:txBody>
      </p:sp>
      <p:sp>
        <p:nvSpPr>
          <p:cNvPr id="6" name="Text 2"/>
          <p:cNvSpPr txBox="1"/>
          <p:nvPr/>
        </p:nvSpPr>
        <p:spPr>
          <a:xfrm>
            <a:off x="990295" y="3261665"/>
            <a:ext cx="16303752" cy="6035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2100">
                <a:solidFill>
                  <a:srgbClr val="000000"/>
                </a:solidFill>
                <a:latin typeface="Times New Roman"/>
              </a:rPr>
              <a:t>Idea: SynCura - an attention-based LSTM over a rolling 90-minute window of 12 clinical features, returning a 0-100 risk score with explanations.</a:t>
            </a:r>
            <a:endParaRPr sz="2100"/>
          </a:p>
          <a:p>
            <a:pPr/>
            <a:r>
              <a:rPr sz="2100">
                <a:solidFill>
                  <a:srgbClr val="000000"/>
                </a:solidFill>
                <a:latin typeface="Times New Roman"/>
              </a:rPr>
              <a:t>Different/better - metrics: reports false alarms, sensitivity, specificity, precision, lead time, and a NEWS2 comparison; most papers report AUC only.</a:t>
            </a:r>
          </a:p>
          <a:p>
            <a:pPr/>
            <a:r>
              <a:rPr sz="2100">
                <a:solidFill>
                  <a:srgbClr val="000000"/>
                </a:solidFill>
                <a:latin typeface="Times New Roman"/>
              </a:rPr>
              <a:t>Different/better - evidence: fresh unseen 20% set-B holdout AUC 0.844 exceeds validation AUC 0.840.</a:t>
            </a:r>
          </a:p>
          <a:p>
            <a:pPr/>
            <a:r>
              <a:rPr sz="2100">
                <a:solidFill>
                  <a:srgbClr val="000000"/>
                </a:solidFill>
                <a:latin typeface="Times New Roman"/>
              </a:rPr>
              <a:t>Different/better - deployment: an end-to-end FastAPI serving path, alerts, and HTTP and MQTT ingestion - not just a trained model.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ns2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vtu_logo.png">    </p:cNvPr>
          <p:cNvPicPr>
            <a:picLocks noChangeAspect="1"/>
          </p:cNvPicPr>
          <p:nvPr/>
        </p:nvPicPr>
        <p:blipFill>
          <a:blip ns2:embed="rId1"/>
          <a:stretch>
            <a:fillRect/>
          </a:stretch>
        </p:blipFill>
        <p:spPr>
          <a:xfrm>
            <a:off x="0" y="0"/>
            <a:ext cx="2315261" cy="2179015"/>
          </a:xfrm>
          <a:prstGeom prst="rect">
            <a:avLst/>
          </a:prstGeom>
        </p:spPr>
      </p:pic>
      <p:pic>
        <p:nvPicPr>
          <p:cNvPr id="3" name="Image 1" descr="pace_logo.png">    </p:cNvPr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15972739" y="0"/>
            <a:ext cx="2315261" cy="2179015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4073652" y="886054"/>
            <a:ext cx="1011326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28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P.A. COLLEGE OF ENGINEERING
</a:t>
            </a:r>
            <a:pPr algn="ctr" indent="0" marL="0">
              <a:lnSpc>
                <a:spcPct val="150000"/>
              </a:lnSpc>
              <a:buNone/>
            </a:pPr>
            <a:r>
              <a:rPr lang="en-US" sz="20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DEPARTMENT OF COMPUTER SCIENCE &amp; ENGINEERING</a:t>
            </a:r>
            <a:endParaRPr lang="en-US" sz="2800" dirty="0"/>
          </a:p>
        </p:txBody>
      </p:sp>
      <p:sp>
        <p:nvSpPr>
          <p:cNvPr id="5" name="Text 1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sz="3400" b="1">
                <a:solidFill>
                  <a:srgbClr val="1757AC"/>
                </a:solidFill>
                <a:latin typeface="Times New Roman"/>
              </a:rPr>
              <a:t>METHODOLOGY / PROPOSED APPROACH</a:t>
            </a:r>
            <a:endParaRPr sz="3400"/>
          </a:p>
        </p:txBody>
      </p:sp>
      <p:sp>
        <p:nvSpPr>
          <p:cNvPr id="6" name="Text 2"/>
          <p:cNvSpPr txBox="1"/>
          <p:nvPr/>
        </p:nvSpPr>
        <p:spPr>
          <a:xfrm>
            <a:off x="990295" y="3261665"/>
            <a:ext cx="16303752" cy="6035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Dataset: PhysioNet 2012 Challenge with 12 features: six vital signs plus GCS, BUN, Creatinine, WBC, Platelets, and Glucose.</a:t>
            </a:r>
            <a:endParaRPr sz="2000"/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Preprocessing: interpolation, train-only population Z-score normalization, 90-minute windows, and 15-minute stride.</a:t>
            </a:r>
            <a:endParaRPr sz="2000"/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Model: two-layer LSTM with hidden size 96, additive temporal attention, dropout, batch normalization, and sigmoid risk output.</a:t>
            </a:r>
            <a:endParaRPr sz="2000"/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Deployment: FastAPI inference and React visualization, with SHAP feature importance and attention-based temporal explanations.</a:t>
            </a:r>
            <a:endParaRPr sz="20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vtu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315261" cy="2179015"/>
          </a:xfrm>
          <a:prstGeom prst="rect">
            <a:avLst/>
          </a:prstGeom>
        </p:spPr>
      </p:pic>
      <p:pic>
        <p:nvPicPr>
          <p:cNvPr id="3" name="Image 1" descr="pace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72739" y="0"/>
            <a:ext cx="2315261" cy="2179015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4073652" y="886054"/>
            <a:ext cx="1011326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28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P.A. COLLEGE OF ENGINEERING
</a:t>
            </a:r>
            <a:pPr algn="ctr" indent="0" marL="0">
              <a:lnSpc>
                <a:spcPct val="150000"/>
              </a:lnSpc>
              <a:buNone/>
            </a:pPr>
            <a:r>
              <a:rPr lang="en-US" sz="20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DEPARTMENT OF COMPUTER SCIENCE &amp; ENGINEERING</a:t>
            </a:r>
            <a:endParaRPr lang="en-US" sz="2800" dirty="0"/>
          </a:p>
        </p:txBody>
      </p:sp>
      <p:sp>
        <p:nvSpPr>
          <p:cNvPr id="5" name="Text 1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sz="3400" b="1">
                <a:solidFill>
                  <a:srgbClr val="1757AC"/>
                </a:solidFill>
                <a:latin typeface="Times New Roman"/>
              </a:rPr>
              <a:t>EXPECTED OUTCOME</a:t>
            </a:r>
            <a:endParaRPr sz="3400"/>
          </a:p>
        </p:txBody>
      </p:sp>
      <p:sp>
        <p:nvSpPr>
          <p:cNvPr id="6" name="Text 2"/>
          <p:cNvSpPr txBox="1"/>
          <p:nvPr/>
        </p:nvSpPr>
        <p:spPr>
          <a:xfrm>
            <a:off x="990295" y="3261665"/>
            <a:ext cx="16303752" cy="6035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2100">
                <a:solidFill>
                  <a:srgbClr val="000000"/>
                </a:solidFill>
                <a:latin typeface="Times New Roman"/>
              </a:rPr>
              <a:t>A working real-time ICU dashboard displaying deterioration risk from recent clinical measurements.</a:t>
            </a:r>
            <a:endParaRPr sz="2100"/>
          </a:p>
          <a:p>
            <a:pPr/>
            <a:r>
              <a:rPr sz="2100">
                <a:solidFill>
                  <a:srgbClr val="000000"/>
                </a:solidFill>
                <a:latin typeface="Times New Roman"/>
              </a:rPr>
              <a:t>A 0-to-100 risk score with temporal and feature-level explanations for each patient.</a:t>
            </a:r>
          </a:p>
          <a:p>
            <a:pPr/>
            <a:r>
              <a:rPr sz="2100">
                <a:solidFill>
                  <a:srgbClr val="000000"/>
                </a:solidFill>
                <a:latin typeface="Times New Roman"/>
              </a:rPr>
              <a:t>An AUC-ROC target in the realistic 0.78-0.93 range for a single-dataset vitals-plus-labs system.</a:t>
            </a:r>
          </a:p>
          <a:p>
            <a:pPr/>
            <a:r>
              <a:rPr sz="2100">
                <a:solidFill>
                  <a:srgbClr val="000000"/>
                </a:solidFill>
                <a:latin typeface="Times New Roman"/>
              </a:rPr>
              <a:t>Investigate earlier warning relative to the NEWS2 baseline, measured properly.</a:t>
            </a:r>
          </a:p>
          <a:p>
            <a:pPr/>
            <a:r>
              <a:rPr sz="2100">
                <a:solidFill>
                  <a:srgbClr val="000000"/>
                </a:solidFill>
                <a:latin typeface="Times New Roman"/>
              </a:rPr>
              <a:t>Demonstrate a feasible, explainable research prototype - not clinical deployment readiness.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ns2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vtu_logo.png">    </p:cNvPr>
          <p:cNvPicPr>
            <a:picLocks noChangeAspect="1"/>
          </p:cNvPicPr>
          <p:nvPr/>
        </p:nvPicPr>
        <p:blipFill>
          <a:blip ns2:embed="rId1"/>
          <a:stretch>
            <a:fillRect/>
          </a:stretch>
        </p:blipFill>
        <p:spPr>
          <a:xfrm>
            <a:off x="0" y="0"/>
            <a:ext cx="2315261" cy="2179015"/>
          </a:xfrm>
          <a:prstGeom prst="rect">
            <a:avLst/>
          </a:prstGeom>
        </p:spPr>
      </p:pic>
      <p:pic>
        <p:nvPicPr>
          <p:cNvPr id="3" name="Image 1" descr="pace_logo.png">    </p:cNvPr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15972739" y="0"/>
            <a:ext cx="2315261" cy="2179015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4073652" y="886054"/>
            <a:ext cx="1011326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28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P.A. COLLEGE OF ENGINEERING
</a:t>
            </a:r>
            <a:pPr algn="ctr" indent="0" marL="0">
              <a:lnSpc>
                <a:spcPct val="150000"/>
              </a:lnSpc>
              <a:buNone/>
            </a:pPr>
            <a:r>
              <a:rPr lang="en-US" sz="20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DEPARTMENT OF COMPUTER SCIENCE &amp; ENGINEERING</a:t>
            </a:r>
            <a:endParaRPr lang="en-US" sz="2800" dirty="0"/>
          </a:p>
        </p:txBody>
      </p:sp>
      <p:sp>
        <p:nvSpPr>
          <p:cNvPr id="5" name="Text 1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757A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EXPERIMENTAL RESULT</a:t>
            </a:r>
            <a:endParaRPr sz="3400"/>
          </a:p>
        </p:txBody>
      </p:sp>
      <p:sp>
        <p:nvSpPr>
          <p:cNvPr id="6" name="Text 2"/>
          <p:cNvSpPr txBox="1"/>
          <p:nvPr/>
        </p:nvSpPr>
        <p:spPr>
          <a:xfrm>
            <a:off x="990295" y="3261665"/>
            <a:ext cx="16303752" cy="6035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2100">
                <a:solidFill>
                  <a:srgbClr val="000000"/>
                </a:solidFill>
                <a:latin typeface="Times New Roman"/>
              </a:rPr>
              <a:t>Deployed ensemble: 0.840 validation AUC and 0.844 AUC on the fresh unseen 20% set-B holdout.</a:t>
            </a:r>
            <a:endParaRPr sz="2100"/>
          </a:p>
          <a:p>
            <a:pPr/>
            <a:r>
              <a:rPr sz="2100">
                <a:solidFill>
                  <a:srgbClr val="000000"/>
                </a:solidFill>
                <a:latin typeface="Times New Roman"/>
              </a:rPr>
              <a:t>Holdout performance exceeds validation performance, indicating no overfitting to the validation split.</a:t>
            </a:r>
          </a:p>
          <a:p>
            <a:pPr/>
            <a:r>
              <a:rPr sz="2100">
                <a:solidFill>
                  <a:srgbClr val="000000"/>
                </a:solidFill>
                <a:latin typeface="Times New Roman"/>
              </a:rPr>
              <a:t>Evaluation also reports sensitivity, specificity, precision, false-alarm count, and lead-time estimate, benchmarked against the NEWS2 baseline.</a:t>
            </a:r>
          </a:p>
          <a:p>
            <a:pPr/>
            <a:r>
              <a:rPr sz="2100">
                <a:solidFill>
                  <a:srgbClr val="000000"/>
                </a:solidFill>
                <a:latin typeface="Times New Roman"/>
              </a:rPr>
              <a:t>Next evaluation steps: calibration, threshold analysis, and prospective validation before clinical use.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vtu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315261" cy="2179015"/>
          </a:xfrm>
          <a:prstGeom prst="rect">
            <a:avLst/>
          </a:prstGeom>
        </p:spPr>
      </p:pic>
      <p:pic>
        <p:nvPicPr>
          <p:cNvPr id="3" name="Image 1" descr="pace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72739" y="0"/>
            <a:ext cx="2315261" cy="2179015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4073652" y="886054"/>
            <a:ext cx="1011326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28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P.A. COLLEGE OF ENGINEERING
</a:t>
            </a:r>
            <a:pPr algn="ctr" indent="0" marL="0">
              <a:lnSpc>
                <a:spcPct val="150000"/>
              </a:lnSpc>
              <a:buNone/>
            </a:pPr>
            <a:r>
              <a:rPr lang="en-US" sz="20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DEPARTMENT OF COMPUTER SCIENCE &amp; ENGINEERING</a:t>
            </a:r>
            <a:endParaRPr lang="en-US" sz="2800" dirty="0"/>
          </a:p>
        </p:txBody>
      </p:sp>
      <p:sp>
        <p:nvSpPr>
          <p:cNvPr id="5" name="Text 1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sz="3400" b="1">
                <a:solidFill>
                  <a:srgbClr val="1757AC"/>
                </a:solidFill>
                <a:latin typeface="Times New Roman"/>
              </a:rPr>
              <a:t>HOW IT COULD BE BETTER WITH ENOUGH TIME</a:t>
            </a:r>
            <a:endParaRPr sz="3400"/>
          </a:p>
        </p:txBody>
      </p:sp>
      <p:sp>
        <p:nvSpPr>
          <p:cNvPr id="6" name="Text 2"/>
          <p:cNvSpPr txBox="1"/>
          <p:nvPr/>
        </p:nvSpPr>
        <p:spPr>
          <a:xfrm>
            <a:off x="990295" y="3261665"/>
            <a:ext cx="16303752" cy="6035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2100">
                <a:solidFill>
                  <a:srgbClr val="000000"/>
                </a:solidFill>
                <a:latin typeface="Times New Roman"/>
              </a:rPr>
              <a:t>Paper: 0.936 overall, 98.9 at discharge (hindsight); cross-hospital falls to 0.81 / 0.76, no prospective test.</a:t>
            </a:r>
            <a:endParaRPr sz="2100"/>
          </a:p>
          <a:p>
            <a:pPr/>
            <a:r>
              <a:rPr sz="2100">
                <a:solidFill>
                  <a:srgbClr val="000000"/>
                </a:solidFill>
                <a:latin typeface="Times New Roman"/>
              </a:rPr>
              <a:t>Real world: US-only retrospective, missing/async vitals, age bias, single-center data.</a:t>
            </a:r>
          </a:p>
          <a:p>
            <a:pPr/>
            <a:r>
              <a:rPr sz="2100">
                <a:solidFill>
                  <a:srgbClr val="000000"/>
                </a:solidFill>
                <a:latin typeface="Times New Roman"/>
              </a:rPr>
              <a:t>SynCura stricter: 90-min window only, no future info; unseen holdout 0.844 beats validation 0.840.</a:t>
            </a:r>
          </a:p>
          <a:p>
            <a:pPr/>
            <a:r>
              <a:rPr sz="2100">
                <a:solidFill>
                  <a:srgbClr val="000000"/>
                </a:solidFill>
                <a:latin typeface="Times New Roman"/>
              </a:rPr>
              <a:t>SynCura reports what papers skip: false alarms, precision, lead time vs NEWS2, calibration.</a:t>
            </a:r>
          </a:p>
          <a:p>
            <a:pPr/>
            <a:r>
              <a:rPr sz="2100">
                <a:solidFill>
                  <a:srgbClr val="000000"/>
                </a:solidFill>
                <a:latin typeface="Times New Roman"/>
              </a:rPr>
              <a:t>Better-paper path: eICU/MIMIC validation + RealMIP imputation + time-aware attention + pilot.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ns2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vtu_logo.png">    </p:cNvPr>
          <p:cNvPicPr>
            <a:picLocks noChangeAspect="1"/>
          </p:cNvPicPr>
          <p:nvPr/>
        </p:nvPicPr>
        <p:blipFill>
          <a:blip ns2:embed="rId1"/>
          <a:stretch>
            <a:fillRect/>
          </a:stretch>
        </p:blipFill>
        <p:spPr>
          <a:xfrm>
            <a:off x="0" y="0"/>
            <a:ext cx="2315261" cy="2179015"/>
          </a:xfrm>
          <a:prstGeom prst="rect">
            <a:avLst/>
          </a:prstGeom>
        </p:spPr>
      </p:pic>
      <p:pic>
        <p:nvPicPr>
          <p:cNvPr id="3" name="Image 1" descr="pace_logo.png">    </p:cNvPr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15972739" y="0"/>
            <a:ext cx="2315261" cy="2179015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4073652" y="886054"/>
            <a:ext cx="1011326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28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P.A. COLLEGE OF ENGINEERING
</a:t>
            </a:r>
            <a:pPr algn="ctr" indent="0" marL="0">
              <a:lnSpc>
                <a:spcPct val="150000"/>
              </a:lnSpc>
              <a:buNone/>
            </a:pPr>
            <a:r>
              <a:rPr lang="en-US" sz="20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DEPARTMENT OF COMPUTER SCIENCE &amp; ENGINEERING</a:t>
            </a:r>
            <a:endParaRPr lang="en-US" sz="2800" dirty="0"/>
          </a:p>
        </p:txBody>
      </p:sp>
      <p:sp>
        <p:nvSpPr>
          <p:cNvPr id="5" name="Text 1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757A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TECHNOLOGY / TOOLS REQUIRED</a:t>
            </a:r>
            <a:endParaRPr sz="3400"/>
          </a:p>
        </p:txBody>
      </p:sp>
      <p:sp>
        <p:nvSpPr>
          <p:cNvPr id="6" name="Text 2"/>
          <p:cNvSpPr txBox="1"/>
          <p:nvPr/>
        </p:nvSpPr>
        <p:spPr>
          <a:xfrm>
            <a:off x="990295" y="3261665"/>
            <a:ext cx="16303752" cy="6035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lang="en-US" sz="21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Programming: Python for machine learning and backend services; JavaScript for the frontend.</a:t>
            </a:r>
            <a:endParaRPr sz="2100"/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lang="en-US" sz="21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ML and backend: PyTorch, FastAPI, SQLite, scikit-learn, and SHAP.</a:t>
            </a:r>
            <a:endParaRPr sz="2100"/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lang="en-US" sz="21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Frontend: React, Vite, and Tailwind CSS.</a:t>
            </a:r>
            <a:endParaRPr sz="2100"/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lang="en-US" sz="21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Dataset: PhysioNet / Computing in Cardiology Challenge 2012.</a:t>
            </a:r>
            <a:endParaRPr sz="2100"/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lang="en-US" sz="21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SDG relevance: SDG 3 (Good Health and Well-Being) and SDG 9 (Industry, Innovation and Infrastructure).</a:t>
            </a:r>
            <a:endParaRPr sz="21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vtu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315261" cy="2179015"/>
          </a:xfrm>
          <a:prstGeom prst="rect">
            <a:avLst/>
          </a:prstGeom>
        </p:spPr>
      </p:pic>
      <p:pic>
        <p:nvPicPr>
          <p:cNvPr id="3" name="Image 1" descr="pace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72739" y="0"/>
            <a:ext cx="2315261" cy="2179015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4073652" y="886054"/>
            <a:ext cx="1011326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28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P.A. COLLEGE OF ENGINEERING
</a:t>
            </a:r>
            <a:pPr algn="ctr" indent="0" marL="0">
              <a:lnSpc>
                <a:spcPct val="150000"/>
              </a:lnSpc>
              <a:buNone/>
            </a:pPr>
            <a:r>
              <a:rPr lang="en-US" sz="20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DEPARTMENT OF COMPUTER SCIENCE &amp; ENGINEERING</a:t>
            </a:r>
            <a:endParaRPr lang="en-US" sz="2800" dirty="0"/>
          </a:p>
        </p:txBody>
      </p:sp>
      <p:sp>
        <p:nvSpPr>
          <p:cNvPr id="5" name="Text 1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sz="3400" b="1">
                <a:solidFill>
                  <a:srgbClr val="1757AC"/>
                </a:solidFill>
                <a:latin typeface="Times New Roman"/>
              </a:rPr>
              <a:t>SDG RELEVANCE</a:t>
            </a:r>
            <a:endParaRPr sz="3400"/>
          </a:p>
        </p:txBody>
      </p:sp>
      <p:sp>
        <p:nvSpPr>
          <p:cNvPr id="6" name="Text 2"/>
          <p:cNvSpPr txBox="1"/>
          <p:nvPr/>
        </p:nvSpPr>
        <p:spPr>
          <a:xfrm>
            <a:off x="990295" y="3261665"/>
            <a:ext cx="16303752" cy="6035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2100">
                <a:solidFill>
                  <a:srgbClr val="000000"/>
                </a:solidFill>
                <a:latin typeface="Times New Roman"/>
              </a:rPr>
              <a:t>SDG 3 - Good Health and Well-Being: earlier detection of ICU deterioration supports timely clinical review and better patient monitoring.</a:t>
            </a:r>
            <a:endParaRPr sz="2100"/>
          </a:p>
          <a:p>
            <a:pPr/>
            <a:r>
              <a:rPr sz="2100">
                <a:solidFill>
                  <a:srgbClr val="000000"/>
                </a:solidFill>
                <a:latin typeface="Times New Roman"/>
              </a:rPr>
              <a:t>SDG 9 - Industry, Innovation and Infrastructure: explainable deep learning integrated into a modern monitoring workflow - ML, APIs, visualization, and sensor-ready architecture.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ns2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vtu_logo.png">    </p:cNvPr>
          <p:cNvPicPr>
            <a:picLocks noChangeAspect="1"/>
          </p:cNvPicPr>
          <p:nvPr/>
        </p:nvPicPr>
        <p:blipFill>
          <a:blip ns2:embed="rId1"/>
          <a:stretch>
            <a:fillRect/>
          </a:stretch>
        </p:blipFill>
        <p:spPr>
          <a:xfrm>
            <a:off x="0" y="0"/>
            <a:ext cx="2315261" cy="2179015"/>
          </a:xfrm>
          <a:prstGeom prst="rect">
            <a:avLst/>
          </a:prstGeom>
        </p:spPr>
      </p:pic>
      <p:pic>
        <p:nvPicPr>
          <p:cNvPr id="3" name="Image 1" descr="pace_logo.png">    </p:cNvPr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15972739" y="0"/>
            <a:ext cx="2315261" cy="2179015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4073652" y="886054"/>
            <a:ext cx="1011326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28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P.A. COLLEGE OF ENGINEERING
</a:t>
            </a:r>
            <a:pPr algn="ctr" indent="0" marL="0">
              <a:lnSpc>
                <a:spcPct val="150000"/>
              </a:lnSpc>
              <a:buNone/>
            </a:pPr>
            <a:r>
              <a:rPr lang="en-US" sz="20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DEPARTMENT OF COMPUTER SCIENCE &amp; ENGINEERING</a:t>
            </a:r>
            <a:endParaRPr lang="en-US" sz="2800" dirty="0"/>
          </a:p>
        </p:txBody>
      </p:sp>
      <p:sp>
        <p:nvSpPr>
          <p:cNvPr id="5" name="Text 1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757A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FUTURE SCOPE</a:t>
            </a:r>
            <a:endParaRPr sz="3400"/>
          </a:p>
        </p:txBody>
      </p:sp>
      <p:sp>
        <p:nvSpPr>
          <p:cNvPr id="6" name="Text 2"/>
          <p:cNvSpPr txBox="1"/>
          <p:nvPr/>
        </p:nvSpPr>
        <p:spPr>
          <a:xfrm>
            <a:off x="990295" y="3261665"/>
            <a:ext cx="16303752" cy="6035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lang="en-US" sz="21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Perform calibration, decision-curve analysis, and prospective evaluation with clinical collaborators.</a:t>
            </a:r>
            <a:endParaRPr sz="2100"/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lang="en-US" sz="21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Add robust missing-data handling and test performance across hospitals and patient subgroups.</a:t>
            </a:r>
            <a:endParaRPr sz="2100"/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lang="en-US" sz="21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Compare attention-LSTM with transformer and graph-based temporal models.</a:t>
            </a:r>
            <a:endParaRPr sz="2100"/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lang="en-US" sz="21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Explore multimodal fusion with clinical notes and safer integration with real bedside data streams.</a:t>
            </a:r>
            <a:endParaRPr sz="2100"/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lang="en-US" sz="21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Investigate privacy-preserving and edge-assisted deployment only after clinical validation.</a:t>
            </a:r>
            <a:endParaRPr sz="21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ns2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vtu_logo.png">    </p:cNvPr>
          <p:cNvPicPr>
            <a:picLocks noChangeAspect="1"/>
          </p:cNvPicPr>
          <p:nvPr/>
        </p:nvPicPr>
        <p:blipFill>
          <a:blip ns2:embed="rId1"/>
          <a:stretch>
            <a:fillRect/>
          </a:stretch>
        </p:blipFill>
        <p:spPr>
          <a:xfrm>
            <a:off x="0" y="0"/>
            <a:ext cx="2315261" cy="2179015"/>
          </a:xfrm>
          <a:prstGeom prst="rect">
            <a:avLst/>
          </a:prstGeom>
        </p:spPr>
      </p:pic>
      <p:pic>
        <p:nvPicPr>
          <p:cNvPr id="3" name="Image 1" descr="pace_logo.png">    </p:cNvPr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15972739" y="0"/>
            <a:ext cx="2315261" cy="2179015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4073652" y="886054"/>
            <a:ext cx="1011326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28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P.A. COLLEGE OF ENGINEERING
</a:t>
            </a:r>
            <a:pPr algn="ctr" indent="0" marL="0">
              <a:lnSpc>
                <a:spcPct val="150000"/>
              </a:lnSpc>
              <a:buNone/>
            </a:pPr>
            <a:r>
              <a:rPr lang="en-US" sz="20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DEPARTMENT OF COMPUTER SCIENCE &amp; ENGINEERING</a:t>
            </a:r>
            <a:endParaRPr lang="en-US" sz="2800" dirty="0"/>
          </a:p>
        </p:txBody>
      </p:sp>
      <p:sp>
        <p:nvSpPr>
          <p:cNvPr id="5" name="Text 1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757A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CONCLUSION</a:t>
            </a:r>
            <a:endParaRPr sz="3400"/>
          </a:p>
        </p:txBody>
      </p:sp>
      <p:sp>
        <p:nvSpPr>
          <p:cNvPr id="6" name="Text 2"/>
          <p:cNvSpPr txBox="1"/>
          <p:nvPr/>
        </p:nvSpPr>
        <p:spPr>
          <a:xfrm>
            <a:off x="990295" y="3261665"/>
            <a:ext cx="16303752" cy="6035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2100">
                <a:solidFill>
                  <a:srgbClr val="000000"/>
                </a:solidFill>
                <a:latin typeface="Times New Roman"/>
              </a:rPr>
              <a:t>SynCura demonstrates an end-to-end explainable ICU risk-monitoring workflow from clinical time-series input to dashboard output.</a:t>
            </a:r>
            <a:endParaRPr sz="2100"/>
          </a:p>
          <a:p>
            <a:pPr/>
            <a:r>
              <a:rPr sz="2100">
                <a:solidFill>
                  <a:srgbClr val="000000"/>
                </a:solidFill>
                <a:latin typeface="Times New Roman"/>
              </a:rPr>
              <a:t>Temporal attention and SHAP provide an interpretable view of which time steps and features influenced the prediction.</a:t>
            </a:r>
          </a:p>
          <a:p>
            <a:pPr/>
            <a:r>
              <a:rPr sz="2100">
                <a:solidFill>
                  <a:srgbClr val="000000"/>
                </a:solidFill>
                <a:latin typeface="Times New Roman"/>
              </a:rPr>
              <a:t>The deployed ensemble achieved 0.840 validation AUC and 0.844 set-B holdout AUC.</a:t>
            </a:r>
          </a:p>
          <a:p>
            <a:pPr/>
            <a:r>
              <a:rPr sz="2100">
                <a:solidFill>
                  <a:srgbClr val="000000"/>
                </a:solidFill>
                <a:latin typeface="Times New Roman"/>
              </a:rPr>
              <a:t>These results support the prototype concept, while further clinical and external validation is required before real-world use.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ns2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vtu_logo.png">    </p:cNvPr>
          <p:cNvPicPr>
            <a:picLocks noChangeAspect="1"/>
          </p:cNvPicPr>
          <p:nvPr/>
        </p:nvPicPr>
        <p:blipFill>
          <a:blip ns2:embed="rId1"/>
          <a:stretch>
            <a:fillRect/>
          </a:stretch>
        </p:blipFill>
        <p:spPr>
          <a:xfrm>
            <a:off x="0" y="0"/>
            <a:ext cx="2315261" cy="2179015"/>
          </a:xfrm>
          <a:prstGeom prst="rect">
            <a:avLst/>
          </a:prstGeom>
        </p:spPr>
      </p:pic>
      <p:pic>
        <p:nvPicPr>
          <p:cNvPr id="3" name="Image 1" descr="pace_logo.png">    </p:cNvPr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15972739" y="0"/>
            <a:ext cx="2315261" cy="2179015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4073652" y="886054"/>
            <a:ext cx="1011326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28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P.A. COLLEGE OF ENGINEERING
</a:t>
            </a:r>
            <a:pPr algn="ctr" indent="0" marL="0">
              <a:lnSpc>
                <a:spcPct val="150000"/>
              </a:lnSpc>
              <a:buNone/>
            </a:pPr>
            <a:r>
              <a:rPr lang="en-US" sz="20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DEPARTMENT OF COMPUTER SCIENCE &amp; ENGINEERING</a:t>
            </a:r>
            <a:endParaRPr lang="en-US" sz="2800" dirty="0"/>
          </a:p>
        </p:txBody>
      </p:sp>
      <p:sp>
        <p:nvSpPr>
          <p:cNvPr id="5" name="Text 1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757A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REFERENCES</a:t>
            </a:r>
            <a:endParaRPr sz="3400"/>
          </a:p>
        </p:txBody>
      </p:sp>
      <p:sp>
        <p:nvSpPr>
          <p:cNvPr id="6" name="Text 2"/>
          <p:cNvSpPr txBox="1"/>
          <p:nvPr/>
        </p:nvSpPr>
        <p:spPr>
          <a:xfrm>
            <a:off x="990295" y="3261665"/>
            <a:ext cx="16303752" cy="6035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t>[1] Y. Wang, Y. Bai, and G. Jin, Explainable Deep-Learning Models..., Frontiers in Physiology, vol. 17, 2026.</a:t>
            </a:r>
            <a:endParaRPr sz="1450"/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t>[2] Z. Yan et al., Deep learning-based in-hospital mortality prediction..., PeerJ, vol. 14, e21631, 2026.</a:t>
            </a:r>
            <a:endParaRPr sz="1450"/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t>[3] B. Sadanandan, Multimodal Deep Learning for Early Prediction..., arXiv:2603.14719, 2026.</a:t>
            </a:r>
            <a:endParaRPr sz="1450"/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t>[4] Y. Wu et al., Revisiting the potential value of vital signs..., Journal of Big Data, vol. 11, no. 40, 2024.</a:t>
            </a:r>
            <a:endParaRPr sz="1450"/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t>[5] P. Xie et al., Unlocking real-time ICU mortality prediction..., npj Digital Medicine, vol. 8, 733, 2025.</a:t>
            </a:r>
            <a:endParaRPr sz="1450"/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t>[6] E. Choi et al., Deep Interpretable Early Warning System..., IEEE JBHI, vol. 24, no. 9, 2020.</a:t>
            </a:r>
            <a:endParaRPr sz="1450"/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t>[7] M. R. Scheid et al., Clinical wearable deep learning based deterioration prediction..., Nature Communications, vol. 16, 9513, 2025.</a:t>
            </a:r>
            <a:endParaRPr sz="1450"/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t>[8] PhysioNet, Computing in Cardiology Challenge 2012, physionet.org/content/challenge-2012/.</a:t>
            </a:r>
            <a:endParaRPr sz="145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ns2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vtu_logo.png">    </p:cNvPr>
          <p:cNvPicPr>
            <a:picLocks noChangeAspect="1"/>
          </p:cNvPicPr>
          <p:nvPr/>
        </p:nvPicPr>
        <p:blipFill>
          <a:blip ns2:embed="rId1"/>
          <a:stretch>
            <a:fillRect/>
          </a:stretch>
        </p:blipFill>
        <p:spPr>
          <a:xfrm>
            <a:off x="0" y="0"/>
            <a:ext cx="2315261" cy="2179015"/>
          </a:xfrm>
          <a:prstGeom prst="rect">
            <a:avLst/>
          </a:prstGeom>
        </p:spPr>
      </p:pic>
      <p:pic>
        <p:nvPicPr>
          <p:cNvPr id="3" name="Image 1" descr="pace_logo.png">    </p:cNvPr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15972739" y="0"/>
            <a:ext cx="2315261" cy="2179015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4073652" y="886054"/>
            <a:ext cx="1011326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28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P.A. COLLEGE OF ENGINEERING
</a:t>
            </a:r>
            <a:pPr algn="ctr" indent="0" marL="0">
              <a:lnSpc>
                <a:spcPct val="150000"/>
              </a:lnSpc>
              <a:buNone/>
            </a:pPr>
            <a:r>
              <a:rPr lang="en-US" sz="20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DEPARTMENT OF COMPUTER SCIENCE &amp; ENGINEERING</a:t>
            </a:r>
            <a:endParaRPr lang="en-US" sz="2800" dirty="0"/>
          </a:p>
        </p:txBody>
      </p:sp>
      <p:sp>
        <p:nvSpPr>
          <p:cNvPr id="5" name="Text 1"/>
          <p:cNvSpPr txBox="1"/>
          <p:nvPr/>
        </p:nvSpPr>
        <p:spPr>
          <a:xfrm>
            <a:off x="914400" y="4389120"/>
            <a:ext cx="1645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THANK YOU</a:t>
            </a:r>
            <a:endParaRPr lang="en-US" sz="6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