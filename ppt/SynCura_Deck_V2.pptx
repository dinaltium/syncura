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15261" cy="217901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72739" y="0"/>
            <a:ext cx="2315261" cy="217901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073652" y="886054"/>
            <a:ext cx="10113264" cy="1234440"/>
          </a:xfrm>
          <a:prstGeom prst="rect">
            <a:avLst/>
          </a:prstGeom>
          <a:noFill/>
        </p:spPr>
        <p:txBody>
          <a:bodyPr wrap="square"/>
          <a:lstStyle/>
          <a:p>
            <a:pPr algn="ctr" indent="0" marL="0">
              <a:lnSpc>
                <a:spcPct val="150000"/>
              </a:lnSpc>
              <a:buNone/>
            </a:pPr>
            <a:r>
              <a:rPr sz="2800" b="1">
                <a:solidFill>
                  <a:srgbClr val="000000"/>
                </a:solidFill>
                <a:latin typeface="Times New Roman"/>
              </a:rPr>
              <a:t>P.A. COLLEGE OF ENGINEERING
</a:t>
            </a:r>
            <a:r>
              <a:rPr sz="2000" b="1">
                <a:solidFill>
                  <a:srgbClr val="000000"/>
                </a:solidFill>
                <a:latin typeface="Times New Roman"/>
              </a:rPr>
              <a:t>DEPARTMENT OF COMPUTER SCIENCE &amp;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64592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ctr" indent="0" marL="0">
              <a:buNone/>
            </a:pPr>
            <a:r>
              <a:rPr sz="6000" b="1">
                <a:solidFill>
                  <a:srgbClr val="000000"/>
                </a:solidFill>
                <a:latin typeface="Times New Roman"/>
              </a:rPr>
              <a:t>SynCura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063240"/>
            <a:ext cx="1572768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ctr" indent="0" marL="0">
              <a:lnSpc>
                <a:spcPct val="150000"/>
              </a:lnSpc>
              <a:buNone/>
            </a:pPr>
            <a:r>
              <a:rPr sz="3200" b="1">
                <a:solidFill>
                  <a:srgbClr val="000000"/>
                </a:solidFill>
                <a:latin typeface="Times New Roman"/>
              </a:rPr>
              <a:t>Predictive ICU Monitoring System Using Attention-Based LSTM with Real-Time Explainability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6236208"/>
            <a:ext cx="6446520" cy="2286000"/>
          </a:xfrm>
          <a:prstGeom prst="rect">
            <a:avLst/>
          </a:prstGeom>
          <a:noFill/>
        </p:spPr>
        <p:txBody>
          <a:bodyPr wrap="square"/>
          <a:lstStyle/>
          <a:p>
            <a:pPr indent="0" marL="0">
              <a:lnSpc>
                <a:spcPct val="150000"/>
              </a:lnSpc>
              <a:buNone/>
            </a:pPr>
            <a:r>
              <a:rPr sz="2800" b="1">
                <a:solidFill>
                  <a:srgbClr val="000000"/>
                </a:solidFill>
                <a:latin typeface="Times New Roman"/>
              </a:rPr>
              <a:t>TEAM MEMBERS :
</a:t>
            </a:r>
            <a:r>
              <a:rPr sz="2800">
                <a:solidFill>
                  <a:srgbClr val="000000"/>
                </a:solidFill>
                <a:latin typeface="Times New Roman"/>
              </a:rPr>
              <a:t>Abdul Ahad Ikkeri – 4PA24CS002
</a:t>
            </a:r>
            <a:r>
              <a:rPr sz="2800">
                <a:solidFill>
                  <a:srgbClr val="000000"/>
                </a:solidFill>
                <a:latin typeface="Times New Roman"/>
              </a:rPr>
              <a:t>Fathima Reeha – 4PA24CS026
</a:t>
            </a:r>
            <a:r>
              <a:rPr sz="2800">
                <a:solidFill>
                  <a:srgbClr val="000000"/>
                </a:solidFill>
                <a:latin typeface="Times New Roman"/>
              </a:rPr>
              <a:t>Fizan Feroz – 4PA24CS032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8208" y="6236208"/>
            <a:ext cx="6089904" cy="1828800"/>
          </a:xfrm>
          <a:prstGeom prst="rect">
            <a:avLst/>
          </a:prstGeom>
          <a:noFill/>
        </p:spPr>
        <p:txBody>
          <a:bodyPr wrap="square"/>
          <a:lstStyle/>
          <a:p>
            <a:p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15261" cy="217901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72739" y="0"/>
            <a:ext cx="2315261" cy="217901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073652" y="886054"/>
            <a:ext cx="10113264" cy="1234440"/>
          </a:xfrm>
          <a:prstGeom prst="rect">
            <a:avLst/>
          </a:prstGeom>
          <a:noFill/>
        </p:spPr>
        <p:txBody>
          <a:bodyPr wrap="square"/>
          <a:lstStyle/>
          <a:p>
            <a:pPr algn="ctr" indent="0" marL="0">
              <a:lnSpc>
                <a:spcPct val="150000"/>
              </a:lnSpc>
              <a:buNone/>
            </a:pPr>
            <a:r>
              <a:rPr sz="2800" b="1">
                <a:solidFill>
                  <a:srgbClr val="000000"/>
                </a:solidFill>
                <a:latin typeface="Times New Roman"/>
              </a:rPr>
              <a:t>P.A. COLLEGE OF ENGINEERING
</a:t>
            </a:r>
            <a:r>
              <a:rPr sz="2000" b="1">
                <a:solidFill>
                  <a:srgbClr val="000000"/>
                </a:solidFill>
                <a:latin typeface="Times New Roman"/>
              </a:rPr>
              <a:t>DEPARTMENT OF COMPUTER SCIENCE &amp;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79676"/>
            <a:ext cx="16459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 indent="0" marL="0">
              <a:buNone/>
            </a:pPr>
            <a:r>
              <a:rPr sz="3400" b="1">
                <a:solidFill>
                  <a:srgbClr val="1757AC"/>
                </a:solidFill>
                <a:latin typeface="Times New Roman"/>
              </a:rP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295" y="3261665"/>
            <a:ext cx="16303752" cy="1463040"/>
          </a:xfrm>
          <a:prstGeom prst="rect">
            <a:avLst/>
          </a:prstGeom>
          <a:noFill/>
        </p:spPr>
        <p:txBody>
          <a:bodyPr wrap="square"/>
          <a:lstStyle/>
          <a:p>
            <a:pPr indent="0" marL="0">
              <a:lnSpc>
                <a:spcPct val="150000"/>
              </a:lnSpc>
              <a:buNone/>
            </a:pPr>
            <a:r>
              <a:rPr sz="2200" b="1">
                <a:solidFill>
                  <a:srgbClr val="000000"/>
                </a:solidFill>
                <a:latin typeface="Times New Roman"/>
              </a:rPr>
              <a:t>ICU deterioration is difficult to identify early from isolated measurements and manual score calculations.</a:t>
            </a:r>
          </a:p>
          <a:p>
            <a:pPr indent="0" marL="0">
              <a:lnSpc>
                <a:spcPct val="150000"/>
              </a:lnSpc>
              <a:buNone/>
            </a:pPr>
            <a:r>
              <a:rPr sz="2200" b="1">
                <a:solidFill>
                  <a:srgbClr val="000000"/>
                </a:solidFill>
                <a:latin typeface="Times New Roman"/>
              </a:rPr>
              <a:t>Existing rule-based scores do not fully capture the direction, duration, and interaction of changing observations.</a:t>
            </a:r>
          </a:p>
          <a:p>
            <a:pPr indent="0" marL="0">
              <a:lnSpc>
                <a:spcPct val="150000"/>
              </a:lnSpc>
              <a:buNone/>
            </a:pPr>
            <a:r>
              <a:rPr sz="2200" b="1">
                <a:solidFill>
                  <a:srgbClr val="000000"/>
                </a:solidFill>
                <a:latin typeface="Times New Roman"/>
              </a:rPr>
              <a:t>Need: an early-warning aid reading recent history, with understandable reasons.</a:t>
            </a:r>
          </a:p>
          <a:p>
            <a:pPr indent="0" marL="0">
              <a:lnSpc>
                <a:spcPct val="150000"/>
              </a:lnSpc>
              <a:buNone/>
            </a:pPr>
            <a:r>
              <a:rPr sz="2200" b="1">
                <a:solidFill>
                  <a:srgbClr val="000000"/>
                </a:solidFill>
                <a:latin typeface="Times New Roman"/>
              </a:rPr>
              <a:t>The challenge is to build and evaluate a real-time, explainable prototype without presenting it as a validated clinical device.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15261" cy="217901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72739" y="0"/>
            <a:ext cx="2315261" cy="217901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073652" y="886054"/>
            <a:ext cx="10113264" cy="1234440"/>
          </a:xfrm>
          <a:prstGeom prst="rect">
            <a:avLst/>
          </a:prstGeom>
          <a:noFill/>
        </p:spPr>
        <p:txBody>
          <a:bodyPr wrap="square"/>
          <a:lstStyle/>
          <a:p>
            <a:pPr algn="ctr" indent="0" marL="0">
              <a:lnSpc>
                <a:spcPct val="150000"/>
              </a:lnSpc>
              <a:buNone/>
            </a:pPr>
            <a:r>
              <a:rPr sz="2800" b="1">
                <a:solidFill>
                  <a:srgbClr val="000000"/>
                </a:solidFill>
                <a:latin typeface="Times New Roman"/>
              </a:rPr>
              <a:t>P.A. COLLEGE OF ENGINEERING
</a:t>
            </a:r>
            <a:r>
              <a:rPr sz="2000" b="1">
                <a:solidFill>
                  <a:srgbClr val="000000"/>
                </a:solidFill>
                <a:latin typeface="Times New Roman"/>
              </a:rPr>
              <a:t>DEPARTMENT OF COMPUTER SCIENCE &amp;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79676"/>
            <a:ext cx="16459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 indent="0" marL="0">
              <a:buNone/>
            </a:pPr>
            <a:r>
              <a:rPr sz="3400" b="1">
                <a:solidFill>
                  <a:srgbClr val="1757AC"/>
                </a:solidFill>
                <a:latin typeface="Times New Roman"/>
              </a:rPr>
              <a:t>MOTIVATION / NEED FOR THE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295" y="3261665"/>
            <a:ext cx="16303752" cy="6035040"/>
          </a:xfrm>
          <a:prstGeom prst="rect">
            <a:avLst/>
          </a:prstGeom>
          <a:noFill/>
        </p:spPr>
        <p:txBody>
          <a:bodyPr wrap="square"/>
          <a:lstStyle/>
          <a:p>
            <a:pPr marL="406400" indent="-406400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sz="2200">
                <a:solidFill>
                  <a:srgbClr val="000000"/>
                </a:solidFill>
                <a:latin typeface="Times New Roman"/>
              </a:rPr>
              <a:t>ICU deterioration can progress rapidly, making early recognition important for timely clinical intervention.</a:t>
            </a:r>
          </a:p>
          <a:p>
            <a:pPr/>
            <a:r>
              <a:rPr sz="2200">
                <a:solidFill>
                  <a:srgbClr val="000000"/>
                </a:solidFill>
                <a:latin typeface="Times New Roman"/>
              </a:rPr>
              <a:t>Rule-based scores such as NEWS2 and SOFA use threshold-driven assessments and do not directly model longitudinal trends.</a:t>
            </a:r>
          </a:p>
          <a:p>
            <a:pPr/>
            <a:r>
              <a:rPr sz="2200">
                <a:solidFill>
                  <a:srgbClr val="000000"/>
                </a:solidFill>
                <a:latin typeface="Times New Roman"/>
              </a:rPr>
              <a:t>SynCura applies temporal deep learning to streaming-style vital and clinical measurements.</a:t>
            </a:r>
          </a:p>
          <a:p>
            <a:pPr/>
            <a:r>
              <a:rPr sz="2200">
                <a:solidFill>
                  <a:srgbClr val="000000"/>
                </a:solidFill>
                <a:latin typeface="Times New Roman"/>
              </a:rPr>
              <a:t>The project focuses on an explainable software prototype, not autonomous clinical decision-making.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15261" cy="217901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72739" y="0"/>
            <a:ext cx="2315261" cy="217901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073652" y="886054"/>
            <a:ext cx="10113264" cy="1234440"/>
          </a:xfrm>
          <a:prstGeom prst="rect">
            <a:avLst/>
          </a:prstGeom>
          <a:noFill/>
        </p:spPr>
        <p:txBody>
          <a:bodyPr wrap="square"/>
          <a:lstStyle/>
          <a:p>
            <a:pPr algn="ctr" indent="0" marL="0">
              <a:lnSpc>
                <a:spcPct val="150000"/>
              </a:lnSpc>
              <a:buNone/>
            </a:pPr>
            <a:r>
              <a:rPr sz="2800" b="1">
                <a:solidFill>
                  <a:srgbClr val="000000"/>
                </a:solidFill>
                <a:latin typeface="Times New Roman"/>
              </a:rPr>
              <a:t>P.A. COLLEGE OF ENGINEERING
</a:t>
            </a:r>
            <a:r>
              <a:rPr sz="2000" b="1">
                <a:solidFill>
                  <a:srgbClr val="000000"/>
                </a:solidFill>
                <a:latin typeface="Times New Roman"/>
              </a:rPr>
              <a:t>DEPARTMENT OF COMPUTER SCIENCE &amp;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79676"/>
            <a:ext cx="16459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 indent="0" marL="0">
              <a:buNone/>
            </a:pPr>
            <a:r>
              <a:rPr sz="3400" b="1">
                <a:solidFill>
                  <a:srgbClr val="1757AC"/>
                </a:solidFill>
                <a:latin typeface="Times New Roman"/>
              </a:rPr>
              <a:t>EXISTING SYSTEM / RELATED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295" y="3261665"/>
            <a:ext cx="16303752" cy="6035040"/>
          </a:xfrm>
          <a:prstGeom prst="rect">
            <a:avLst/>
          </a:prstGeom>
          <a:noFill/>
        </p:spPr>
        <p:txBody>
          <a:bodyPr wrap="square"/>
          <a:lstStyle/>
          <a:p>
            <a:pPr marL="406400" indent="-406400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sz="1500" b="1">
                <a:solidFill>
                  <a:srgbClr val="000000"/>
                </a:solidFill>
                <a:latin typeface="Times New Roman"/>
              </a:rPr>
              <a:t>BASE PAPER - Zheng et al. (2025): Time-aware bidirectional attention LSTM for real-time ICU mortality (MIMIC-IV + eICU, dynamic AUROC 0.936). Adapted by SynCura on PhysioNet 2012.</a:t>
            </a:r>
          </a:p>
          <a:p>
            <a:pPr marL="406400" indent="-406400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sz="1500" b="1">
                <a:solidFill>
                  <a:srgbClr val="000000"/>
                </a:solidFill>
                <a:latin typeface="Times New Roman"/>
              </a:rPr>
              <a:t>Supporting papers:</a:t>
            </a:r>
          </a:p>
          <a:p>
            <a:pPr marL="406400" indent="-406400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sz="1500">
                <a:solidFill>
                  <a:srgbClr val="000000"/>
                </a:solidFill>
                <a:latin typeface="Times New Roman"/>
              </a:rPr>
              <a:t>Wang, Bai and Jin (2026) - Explainable LSTM models for ICU outcomes; AUC 0.79-0.87.</a:t>
            </a:r>
          </a:p>
          <a:p>
            <a:pPr marL="406400" indent="-406400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sz="1500">
                <a:solidFill>
                  <a:srgbClr val="000000"/>
                </a:solidFill>
                <a:latin typeface="Times New Roman"/>
              </a:rPr>
              <a:t>Yan et al. (2026) - Sequential ICU mortality models; plain LSTM AUC 0.802.</a:t>
            </a:r>
          </a:p>
          <a:p>
            <a:pPr marL="406400" indent="-406400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sz="1500">
                <a:solidFill>
                  <a:srgbClr val="000000"/>
                </a:solidFill>
                <a:latin typeface="Times New Roman"/>
              </a:rPr>
              <a:t>Sadanandan (2026) - Multimodal time-series and clinical-note fusion; AUROC 0.7857.</a:t>
            </a:r>
          </a:p>
          <a:p>
            <a:pPr marL="406400" indent="-406400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sz="1500">
                <a:solidFill>
                  <a:srgbClr val="000000"/>
                </a:solidFill>
                <a:latin typeface="Times New Roman"/>
              </a:rPr>
              <a:t>Wu et al. (2024) - Real-time vital-sign mortality prediction; LSTM AUC 0.9263.</a:t>
            </a:r>
          </a:p>
          <a:p>
            <a:pPr marL="406400" indent="-406400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sz="1500">
                <a:solidFill>
                  <a:srgbClr val="000000"/>
                </a:solidFill>
                <a:latin typeface="Times New Roman"/>
              </a:rPr>
              <a:t>Xie et al. (2025) - RealMIP continuous-data recovery for ICU mortality prediction.</a:t>
            </a:r>
          </a:p>
          <a:p>
            <a:pPr marL="406400" indent="-406400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sz="1500">
                <a:solidFill>
                  <a:srgbClr val="000000"/>
                </a:solidFill>
                <a:latin typeface="Times New Roman"/>
              </a:rPr>
              <a:t>Choi et al. (2020) - Deep interpretable early warning with BiLSTM attention.</a:t>
            </a:r>
          </a:p>
          <a:p>
            <a:pPr marL="406400" indent="-406400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sz="1500">
                <a:solidFill>
                  <a:srgbClr val="000000"/>
                </a:solidFill>
                <a:latin typeface="Times New Roman"/>
              </a:rPr>
              <a:t>Li et al. (2025) - Attention residual LSTM-FCN for clinical time-series prediction.</a:t>
            </a:r>
          </a:p>
          <a:p>
            <a:pPr marL="406400" indent="-406400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sz="1500">
                <a:solidFill>
                  <a:srgbClr val="000000"/>
                </a:solidFill>
                <a:latin typeface="Times New Roman"/>
              </a:rPr>
              <a:t>Scheid et al. (2025) - Wearable deep learning for continuous in-hospital deterioration prediction.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15261" cy="217901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72739" y="0"/>
            <a:ext cx="2315261" cy="217901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073652" y="886054"/>
            <a:ext cx="10113264" cy="1234440"/>
          </a:xfrm>
          <a:prstGeom prst="rect">
            <a:avLst/>
          </a:prstGeom>
          <a:noFill/>
        </p:spPr>
        <p:txBody>
          <a:bodyPr wrap="square"/>
          <a:lstStyle/>
          <a:p>
            <a:pPr algn="ctr" indent="0" marL="0">
              <a:lnSpc>
                <a:spcPct val="150000"/>
              </a:lnSpc>
              <a:buNone/>
            </a:pPr>
            <a:r>
              <a:rPr sz="2800" b="1">
                <a:solidFill>
                  <a:srgbClr val="000000"/>
                </a:solidFill>
                <a:latin typeface="Times New Roman"/>
              </a:rPr>
              <a:t>P.A. COLLEGE OF ENGINEERING
</a:t>
            </a:r>
            <a:r>
              <a:rPr sz="2000" b="1">
                <a:solidFill>
                  <a:srgbClr val="000000"/>
                </a:solidFill>
                <a:latin typeface="Times New Roman"/>
              </a:rPr>
              <a:t>DEPARTMENT OF COMPUTER SCIENCE &amp;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79676"/>
            <a:ext cx="16459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 indent="0" marL="0">
              <a:buNone/>
            </a:pPr>
            <a:r>
              <a:rPr sz="3400" b="1">
                <a:solidFill>
                  <a:srgbClr val="1757AC"/>
                </a:solidFill>
                <a:latin typeface="Times New Roman"/>
              </a:rPr>
              <a:t>BASE PAPER / REFERENCE PAPER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295" y="3261665"/>
            <a:ext cx="16303752" cy="6035040"/>
          </a:xfrm>
          <a:prstGeom prst="rect">
            <a:avLst/>
          </a:prstGeom>
          <a:noFill/>
        </p:spPr>
        <p:txBody>
          <a:bodyPr wrap="square"/>
          <a:lstStyle/>
          <a:p>
            <a:pPr marL="406400" indent="-406400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sz="2100">
                <a:solidFill>
                  <a:srgbClr val="000000"/>
                </a:solidFill>
                <a:latin typeface="Times New Roman"/>
              </a:rPr>
              <a:t>Title: Development and Validation of a Dynamic Real-Time Risk Prediction Model for ICU Patients Based on Longitudinal Irregular Data.</a:t>
            </a:r>
          </a:p>
          <a:p>
            <a:pPr/>
            <a:r>
              <a:rPr sz="2100">
                <a:solidFill>
                  <a:srgbClr val="000000"/>
                </a:solidFill>
                <a:latin typeface="Times New Roman"/>
              </a:rPr>
              <a:t>Authors: Zheng, Luo, Zhu, Du, Lan, Zhou, Yang and Huang. Year: 2025. Journal: JMIR, vol. 27, e69293.</a:t>
            </a:r>
          </a:p>
          <a:p>
            <a:pPr/>
            <a:r>
              <a:rPr sz="2100">
                <a:solidFill>
                  <a:srgbClr val="000000"/>
                </a:solidFill>
                <a:latin typeface="Times New Roman"/>
              </a:rPr>
              <a:t>Method: time-aware bidirectional attention LSTM (TBAL) on 176,344 ICU stays from MIMIC-IV with eICU cross-validation; hourly risk updates.</a:t>
            </a:r>
          </a:p>
          <a:p>
            <a:pPr/>
            <a:r>
              <a:rPr sz="2100">
                <a:solidFill>
                  <a:srgbClr val="000000"/>
                </a:solidFill>
                <a:latin typeface="Times New Roman"/>
              </a:rPr>
              <a:t>Results: dynamic AUROC 0.936 on MIMIC-IV and 0.919 on external eICU data; recall 79.1%.</a:t>
            </a:r>
          </a:p>
          <a:p>
            <a:pPr/>
            <a:r>
              <a:rPr sz="2100">
                <a:solidFill>
                  <a:srgbClr val="000000"/>
                </a:solidFill>
                <a:latin typeface="Times New Roman"/>
              </a:rPr>
              <a:t>Adaptation: same architecture-task match - attention LSTM for real-time ICU risk; SynCura adds SHAP feature explanations.</a:t>
            </a:r>
          </a:p>
          <a:p>
            <a:pPr marL="406400" indent="-406400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sz="2100" b="0">
                <a:solidFill>
                  <a:srgbClr val="000000"/>
                </a:solidFill>
                <a:latin typeface="Times New Roman"/>
              </a:rPr>
              <a:t>Limitation: retrospective data till discharge; AUROC rises to 0.989 at discharge (hindsight bias). SynCura fixes this with 90-min only, no future info.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15261" cy="217901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72739" y="0"/>
            <a:ext cx="2315261" cy="217901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073652" y="886054"/>
            <a:ext cx="10113264" cy="1234440"/>
          </a:xfrm>
          <a:prstGeom prst="rect">
            <a:avLst/>
          </a:prstGeom>
          <a:noFill/>
        </p:spPr>
        <p:txBody>
          <a:bodyPr wrap="square"/>
          <a:lstStyle/>
          <a:p>
            <a:pPr algn="ctr" indent="0" marL="0">
              <a:lnSpc>
                <a:spcPct val="150000"/>
              </a:lnSpc>
              <a:buNone/>
            </a:pPr>
            <a:r>
              <a:rPr sz="2800" b="1">
                <a:solidFill>
                  <a:srgbClr val="000000"/>
                </a:solidFill>
                <a:latin typeface="Times New Roman"/>
              </a:rPr>
              <a:t>P.A. COLLEGE OF ENGINEERING
</a:t>
            </a:r>
            <a:r>
              <a:rPr sz="2000" b="1">
                <a:solidFill>
                  <a:srgbClr val="000000"/>
                </a:solidFill>
                <a:latin typeface="Times New Roman"/>
              </a:rPr>
              <a:t>DEPARTMENT OF COMPUTER SCIENCE &amp;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79676"/>
            <a:ext cx="16459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 indent="0" marL="0">
              <a:buNone/>
            </a:pPr>
            <a:r>
              <a:rPr sz="3400" b="1">
                <a:solidFill>
                  <a:srgbClr val="1757AC"/>
                </a:solidFill>
                <a:latin typeface="Times New Roman"/>
              </a:rPr>
              <a:t>PROPOSED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295" y="3261665"/>
            <a:ext cx="16303752" cy="6035040"/>
          </a:xfrm>
          <a:prstGeom prst="rect">
            <a:avLst/>
          </a:prstGeom>
          <a:noFill/>
        </p:spPr>
        <p:txBody>
          <a:bodyPr wrap="square"/>
          <a:lstStyle/>
          <a:p>
            <a:pPr marL="406400" indent="-406400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sz="2100">
                <a:solidFill>
                  <a:srgbClr val="000000"/>
                </a:solidFill>
                <a:latin typeface="Times New Roman"/>
              </a:rPr>
              <a:t>Idea: SynCura - an attention-based LSTM over a rolling 90-minute window of 12 clinical features, returning a 0-100 risk score with explanations.</a:t>
            </a:r>
          </a:p>
          <a:p>
            <a:pPr/>
            <a:r>
              <a:rPr sz="2100">
                <a:solidFill>
                  <a:srgbClr val="000000"/>
                </a:solidFill>
                <a:latin typeface="Times New Roman"/>
              </a:rPr>
              <a:t>Different/better - metrics: reports false alarms, sensitivity, specificity, precision, lead time, and a NEWS2 comparison; most papers report AUC only.</a:t>
            </a:r>
          </a:p>
          <a:p>
            <a:pPr/>
            <a:r>
              <a:rPr sz="2100">
                <a:solidFill>
                  <a:srgbClr val="000000"/>
                </a:solidFill>
                <a:latin typeface="Times New Roman"/>
              </a:rPr>
              <a:t>Different/better - evidence: fresh unseen 20% set-B holdout AUC 0.844 exceeds validation AUC 0.840.</a:t>
            </a:r>
          </a:p>
          <a:p>
            <a:pPr/>
            <a:r>
              <a:rPr sz="2100">
                <a:solidFill>
                  <a:srgbClr val="000000"/>
                </a:solidFill>
                <a:latin typeface="Times New Roman"/>
              </a:rPr>
              <a:t>Different/better - deployment: an end-to-end FastAPI serving path, alerts, and HTTP and MQTT ingestion - not just a trained model.</a:t>
            </a:r>
          </a:p>
          <a:p>
            <a:pPr/>
            <a:r>
              <a:rPr sz="2100">
                <a:solidFill>
                  <a:srgbClr val="000000"/>
                </a:solidFill>
                <a:latin typeface="Times New Roman"/>
              </a:rPr>
              <a:t>Design goal - learns from mistakes: confirmed misses/false alarms queue into weighted retraining.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15261" cy="217901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72739" y="0"/>
            <a:ext cx="2315261" cy="217901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073652" y="886054"/>
            <a:ext cx="10113264" cy="1234440"/>
          </a:xfrm>
          <a:prstGeom prst="rect">
            <a:avLst/>
          </a:prstGeom>
          <a:noFill/>
        </p:spPr>
        <p:txBody>
          <a:bodyPr wrap="square"/>
          <a:lstStyle/>
          <a:p>
            <a:pPr algn="ctr" indent="0" marL="0">
              <a:lnSpc>
                <a:spcPct val="150000"/>
              </a:lnSpc>
              <a:buNone/>
            </a:pPr>
            <a:r>
              <a:rPr sz="2800" b="1">
                <a:solidFill>
                  <a:srgbClr val="000000"/>
                </a:solidFill>
                <a:latin typeface="Times New Roman"/>
              </a:rPr>
              <a:t>P.A. COLLEGE OF ENGINEERING
</a:t>
            </a:r>
            <a:r>
              <a:rPr sz="2000" b="1">
                <a:solidFill>
                  <a:srgbClr val="000000"/>
                </a:solidFill>
                <a:latin typeface="Times New Roman"/>
              </a:rPr>
              <a:t>DEPARTMENT OF COMPUTER SCIENCE &amp;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79676"/>
            <a:ext cx="16459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 indent="0" marL="0">
              <a:buNone/>
            </a:pPr>
            <a:r>
              <a:rPr sz="3400" b="1">
                <a:solidFill>
                  <a:srgbClr val="1757AC"/>
                </a:solidFill>
                <a:latin typeface="Times New Roman"/>
              </a:rPr>
              <a:t>METHODOLOGY / PROPOSED APPROACH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60" y="3977639"/>
            <a:ext cx="2606040" cy="214884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1757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1757AC"/>
                </a:solidFill>
                <a:latin typeface="Times New Roman"/>
              </a:rPr>
              <a:t>1 · DATA</a:t>
            </a:r>
          </a:p>
          <a:p>
            <a:pPr algn="ctr">
              <a:spcBef>
                <a:spcPts val="600"/>
              </a:spcBef>
            </a:pPr>
            <a:r>
              <a:rPr sz="1500">
                <a:solidFill>
                  <a:srgbClr val="000000"/>
                </a:solidFill>
                <a:latin typeface="Times New Roman"/>
              </a:rPr>
              <a:t>PhysioNet 2012
12 vitals + labs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712464" y="4850892"/>
            <a:ext cx="457200" cy="402336"/>
          </a:xfrm>
          <a:prstGeom prst="rightArrow">
            <a:avLst/>
          </a:prstGeom>
          <a:solidFill>
            <a:srgbClr val="175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224528" y="3977639"/>
            <a:ext cx="2606040" cy="214884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1757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1757AC"/>
                </a:solidFill>
                <a:latin typeface="Times New Roman"/>
              </a:rPr>
              <a:t>2 · PREPARE</a:t>
            </a:r>
          </a:p>
          <a:p>
            <a:pPr algn="ctr">
              <a:spcBef>
                <a:spcPts val="600"/>
              </a:spcBef>
            </a:pPr>
            <a:r>
              <a:rPr sz="1500">
                <a:solidFill>
                  <a:srgbClr val="000000"/>
                </a:solidFill>
                <a:latin typeface="Times New Roman"/>
              </a:rPr>
              <a:t>Interpolate
Train-only z-score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885432" y="4850892"/>
            <a:ext cx="457200" cy="402336"/>
          </a:xfrm>
          <a:prstGeom prst="rightArrow">
            <a:avLst/>
          </a:prstGeom>
          <a:solidFill>
            <a:srgbClr val="175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97496" y="3977639"/>
            <a:ext cx="2606040" cy="214884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1757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1757AC"/>
                </a:solidFill>
                <a:latin typeface="Times New Roman"/>
              </a:rPr>
              <a:t>3 · WINDOW</a:t>
            </a:r>
          </a:p>
          <a:p>
            <a:pPr algn="ctr">
              <a:spcBef>
                <a:spcPts val="600"/>
              </a:spcBef>
            </a:pPr>
            <a:r>
              <a:rPr sz="1500">
                <a:solidFill>
                  <a:srgbClr val="000000"/>
                </a:solidFill>
                <a:latin typeface="Times New Roman"/>
              </a:rPr>
              <a:t>90-min rolling
Stride 15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10058400" y="4850892"/>
            <a:ext cx="457200" cy="402336"/>
          </a:xfrm>
          <a:prstGeom prst="rightArrow">
            <a:avLst/>
          </a:prstGeom>
          <a:solidFill>
            <a:srgbClr val="175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570464" y="3977639"/>
            <a:ext cx="2606040" cy="214884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1757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1757AC"/>
                </a:solidFill>
                <a:latin typeface="Times New Roman"/>
              </a:rPr>
              <a:t>4 · MODEL</a:t>
            </a:r>
          </a:p>
          <a:p>
            <a:pPr algn="ctr">
              <a:spcBef>
                <a:spcPts val="600"/>
              </a:spcBef>
            </a:pPr>
            <a:r>
              <a:rPr sz="1500">
                <a:solidFill>
                  <a:srgbClr val="000000"/>
                </a:solidFill>
                <a:latin typeface="Times New Roman"/>
              </a:rPr>
              <a:t>LSTM-96 + attention
Risk 0–100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3231368" y="4850892"/>
            <a:ext cx="457200" cy="402336"/>
          </a:xfrm>
          <a:prstGeom prst="rightArrow">
            <a:avLst/>
          </a:prstGeom>
          <a:solidFill>
            <a:srgbClr val="175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3743432" y="3977639"/>
            <a:ext cx="2606040" cy="214884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1757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1757AC"/>
                </a:solidFill>
                <a:latin typeface="Times New Roman"/>
              </a:rPr>
              <a:t>5 · SERVE</a:t>
            </a:r>
          </a:p>
          <a:p>
            <a:pPr algn="ctr">
              <a:spcBef>
                <a:spcPts val="600"/>
              </a:spcBef>
            </a:pPr>
            <a:r>
              <a:rPr sz="1500">
                <a:solidFill>
                  <a:srgbClr val="000000"/>
                </a:solidFill>
                <a:latin typeface="Times New Roman"/>
              </a:rPr>
              <a:t>FastAPI + dashboard
SHAP explains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6629400"/>
            <a:ext cx="152979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i="1">
                <a:solidFill>
                  <a:srgbClr val="444444"/>
                </a:solidFill>
                <a:latin typeface="Times New Roman"/>
              </a:rPr>
              <a:t>Leakage controls: train-only stats · patient-level split · past-only windows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15261" cy="217901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72739" y="0"/>
            <a:ext cx="2315261" cy="217901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073652" y="886054"/>
            <a:ext cx="10113264" cy="1234440"/>
          </a:xfrm>
          <a:prstGeom prst="rect">
            <a:avLst/>
          </a:prstGeom>
          <a:noFill/>
        </p:spPr>
        <p:txBody>
          <a:bodyPr wrap="square"/>
          <a:lstStyle/>
          <a:p>
            <a:pPr algn="ctr" indent="0" marL="0">
              <a:lnSpc>
                <a:spcPct val="150000"/>
              </a:lnSpc>
              <a:buNone/>
            </a:pPr>
            <a:r>
              <a:rPr sz="2800" b="1">
                <a:solidFill>
                  <a:srgbClr val="000000"/>
                </a:solidFill>
                <a:latin typeface="Times New Roman"/>
              </a:rPr>
              <a:t>P.A. COLLEGE OF ENGINEERING
</a:t>
            </a:r>
            <a:r>
              <a:rPr sz="2000" b="1">
                <a:solidFill>
                  <a:srgbClr val="000000"/>
                </a:solidFill>
                <a:latin typeface="Times New Roman"/>
              </a:rPr>
              <a:t>DEPARTMENT OF COMPUTER SCIENCE &amp;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79676"/>
            <a:ext cx="16459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 indent="0" marL="0">
              <a:buNone/>
            </a:pPr>
            <a:r>
              <a:rPr sz="3400" b="1">
                <a:solidFill>
                  <a:srgbClr val="1757AC"/>
                </a:solidFill>
                <a:latin typeface="Times New Roman"/>
              </a:rPr>
              <a:t>EXPECTED OUTCOME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295" y="3261665"/>
            <a:ext cx="16303752" cy="6035040"/>
          </a:xfrm>
          <a:prstGeom prst="rect">
            <a:avLst/>
          </a:prstGeom>
          <a:noFill/>
        </p:spPr>
        <p:txBody>
          <a:bodyPr wrap="square"/>
          <a:lstStyle/>
          <a:p>
            <a:pPr marL="406400" indent="-406400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sz="2100">
                <a:solidFill>
                  <a:srgbClr val="000000"/>
                </a:solidFill>
                <a:latin typeface="Times New Roman"/>
              </a:rPr>
              <a:t>A working real-time ICU dashboard displaying deterioration risk from recent clinical measurements.</a:t>
            </a:r>
          </a:p>
          <a:p>
            <a:pPr/>
            <a:r>
              <a:rPr sz="2100">
                <a:solidFill>
                  <a:srgbClr val="000000"/>
                </a:solidFill>
                <a:latin typeface="Times New Roman"/>
              </a:rPr>
              <a:t>A 0-to-100 risk score with temporal and feature-level explanations for each patient.</a:t>
            </a:r>
          </a:p>
          <a:p>
            <a:pPr/>
            <a:r>
              <a:rPr sz="2100">
                <a:solidFill>
                  <a:srgbClr val="000000"/>
                </a:solidFill>
                <a:latin typeface="Times New Roman"/>
              </a:rPr>
              <a:t>An AUC-ROC target in the realistic 0.78-0.93 range for a single-dataset vitals-plus-labs system.</a:t>
            </a:r>
          </a:p>
          <a:p>
            <a:pPr/>
            <a:r>
              <a:rPr sz="2100">
                <a:solidFill>
                  <a:srgbClr val="000000"/>
                </a:solidFill>
                <a:latin typeface="Times New Roman"/>
              </a:rPr>
              <a:t>Investigate earlier warning relative to the NEWS2 baseline, via quantified lead time.</a:t>
            </a:r>
          </a:p>
          <a:p>
            <a:pPr/>
            <a:r>
              <a:rPr sz="2100">
                <a:solidFill>
                  <a:srgbClr val="000000"/>
                </a:solidFill>
                <a:latin typeface="Times New Roman"/>
              </a:rPr>
              <a:t>Demonstrate a feasible, explainable research prototype - not clinical deployment readiness.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15261" cy="217901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72739" y="0"/>
            <a:ext cx="2315261" cy="217901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073652" y="886054"/>
            <a:ext cx="10113264" cy="1234440"/>
          </a:xfrm>
          <a:prstGeom prst="rect">
            <a:avLst/>
          </a:prstGeom>
          <a:noFill/>
        </p:spPr>
        <p:txBody>
          <a:bodyPr wrap="square"/>
          <a:lstStyle/>
          <a:p>
            <a:pPr algn="ctr" indent="0" marL="0">
              <a:lnSpc>
                <a:spcPct val="150000"/>
              </a:lnSpc>
              <a:buNone/>
            </a:pPr>
            <a:r>
              <a:rPr sz="2800" b="1">
                <a:solidFill>
                  <a:srgbClr val="000000"/>
                </a:solidFill>
                <a:latin typeface="Times New Roman"/>
              </a:rPr>
              <a:t>P.A. COLLEGE OF ENGINEERING
</a:t>
            </a:r>
            <a:r>
              <a:rPr sz="2000" b="1">
                <a:solidFill>
                  <a:srgbClr val="000000"/>
                </a:solidFill>
                <a:latin typeface="Times New Roman"/>
              </a:rPr>
              <a:t>DEPARTMENT OF COMPUTER SCIENCE &amp;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79676"/>
            <a:ext cx="16459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 indent="0" marL="0">
              <a:buNone/>
            </a:pPr>
            <a:r>
              <a:rPr sz="3400" b="1">
                <a:solidFill>
                  <a:srgbClr val="1757AC"/>
                </a:solidFill>
                <a:latin typeface="Times New Roman"/>
              </a:rPr>
              <a:t>EXPERIMENTAL RESULT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3566160"/>
            <a:ext cx="8229600" cy="3840480"/>
          </a:xfrm>
          <a:prstGeom prst="rect">
            <a:avLst/>
          </a:prstGeom>
          <a:noFill/>
        </p:spPr>
        <p:txBody>
          <a:bodyPr wrap="square"/>
          <a:lstStyle/>
          <a:p>
            <a:pPr marL="406400" indent="-406400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sz="2100">
                <a:solidFill>
                  <a:srgbClr val="000000"/>
                </a:solidFill>
                <a:latin typeface="Times New Roman"/>
              </a:rPr>
              <a:t>Ensemble s48+c93+s45: val 0.840, fresh holdout 0.844.</a:t>
            </a:r>
          </a:p>
          <a:p>
            <a:pPr/>
            <a:r>
              <a:rPr sz="2100">
                <a:solidFill>
                  <a:srgbClr val="000000"/>
                </a:solidFill>
                <a:latin typeface="Times New Roman"/>
              </a:rPr>
              <a:t>Full metrics: sensitivity, precision, false alarms, lead time vs NEWS2.</a:t>
            </a:r>
          </a:p>
          <a:p>
            <a:pPr/>
            <a:r>
              <a:rPr sz="2100">
                <a:solidFill>
                  <a:srgbClr val="000000"/>
                </a:solidFill>
                <a:latin typeface="Times New Roman"/>
              </a:rPr>
              <a:t>Holdout ≥ val suggests no major overfit (CIs pending).</a:t>
            </a:r>
          </a:p>
        </p:txBody>
      </p:sp>
      <p:pic>
        <p:nvPicPr>
          <p:cNvPr id="7" name="Picture 6" descr="val_fi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0" y="3566160"/>
            <a:ext cx="7589520" cy="343814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15261" cy="217901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72739" y="0"/>
            <a:ext cx="2315261" cy="217901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073652" y="886054"/>
            <a:ext cx="10113264" cy="1234440"/>
          </a:xfrm>
          <a:prstGeom prst="rect">
            <a:avLst/>
          </a:prstGeom>
          <a:noFill/>
        </p:spPr>
        <p:txBody>
          <a:bodyPr wrap="square"/>
          <a:lstStyle/>
          <a:p>
            <a:pPr algn="ctr" indent="0" marL="0">
              <a:lnSpc>
                <a:spcPct val="150000"/>
              </a:lnSpc>
              <a:buNone/>
            </a:pPr>
            <a:r>
              <a:rPr sz="2800" b="1">
                <a:solidFill>
                  <a:srgbClr val="000000"/>
                </a:solidFill>
                <a:latin typeface="Times New Roman"/>
              </a:rPr>
              <a:t>P.A. COLLEGE OF ENGINEERING
</a:t>
            </a:r>
            <a:r>
              <a:rPr sz="2000" b="1">
                <a:solidFill>
                  <a:srgbClr val="000000"/>
                </a:solidFill>
                <a:latin typeface="Times New Roman"/>
              </a:rPr>
              <a:t>DEPARTMENT OF COMPUTER SCIENCE &amp;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79676"/>
            <a:ext cx="16459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 indent="0" marL="0">
              <a:buNone/>
            </a:pPr>
            <a:r>
              <a:rPr sz="3400" b="1">
                <a:solidFill>
                  <a:srgbClr val="1757AC"/>
                </a:solidFill>
                <a:latin typeface="Times New Roman"/>
              </a:rPr>
              <a:t>LIMITATIONS &amp; IMPROVEMENT 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295" y="3261665"/>
            <a:ext cx="16303752" cy="6035040"/>
          </a:xfrm>
          <a:prstGeom prst="rect">
            <a:avLst/>
          </a:prstGeom>
          <a:noFill/>
        </p:spPr>
        <p:txBody>
          <a:bodyPr wrap="square"/>
          <a:lstStyle/>
          <a:p>
            <a:pPr marL="406400" indent="-406400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sz="2100">
                <a:solidFill>
                  <a:srgbClr val="000000"/>
                </a:solidFill>
                <a:latin typeface="Times New Roman"/>
              </a:rPr>
              <a:t>Paper: 0.936, 0.989 at discharge (hindsight); 0.81/0.76 cross-hospital, no bedside test.</a:t>
            </a:r>
          </a:p>
          <a:p>
            <a:pPr/>
            <a:r>
              <a:rPr sz="2100">
                <a:solidFill>
                  <a:srgbClr val="000000"/>
                </a:solidFill>
                <a:latin typeface="Times New Roman"/>
              </a:rPr>
              <a:t>Reality: US-only retrospective, missing/async vitals, age bias.</a:t>
            </a:r>
          </a:p>
          <a:p>
            <a:pPr/>
            <a:r>
              <a:rPr sz="2100">
                <a:solidFill>
                  <a:srgbClr val="000000"/>
                </a:solidFill>
                <a:latin typeface="Times New Roman"/>
              </a:rPr>
              <a:t>Stricter by design: 90-min past-only windows; holdout 0.844 ≥ val 0.840.</a:t>
            </a:r>
          </a:p>
          <a:p>
            <a:pPr/>
            <a:r>
              <a:rPr sz="2100">
                <a:solidFill>
                  <a:srgbClr val="000000"/>
                </a:solidFill>
                <a:latin typeface="Times New Roman"/>
              </a:rPr>
              <a:t>Reports what papers skip: false alarms, lead time vs NEWS2, calibration.</a:t>
            </a:r>
          </a:p>
          <a:p>
            <a:pPr/>
            <a:r>
              <a:rPr sz="2100">
                <a:solidFill>
                  <a:srgbClr val="000000"/>
                </a:solidFill>
                <a:latin typeface="Times New Roman"/>
              </a:rPr>
              <a:t>Path: eICU/MIMIC validation, RealMIP imputation, time-aware attention, pilot.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15261" cy="217901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72739" y="0"/>
            <a:ext cx="2315261" cy="217901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073652" y="886054"/>
            <a:ext cx="10113264" cy="1234440"/>
          </a:xfrm>
          <a:prstGeom prst="rect">
            <a:avLst/>
          </a:prstGeom>
          <a:noFill/>
        </p:spPr>
        <p:txBody>
          <a:bodyPr wrap="square"/>
          <a:lstStyle/>
          <a:p>
            <a:pPr algn="ctr" indent="0" marL="0">
              <a:lnSpc>
                <a:spcPct val="150000"/>
              </a:lnSpc>
              <a:buNone/>
            </a:pPr>
            <a:r>
              <a:rPr sz="2800" b="1">
                <a:solidFill>
                  <a:srgbClr val="000000"/>
                </a:solidFill>
                <a:latin typeface="Times New Roman"/>
              </a:rPr>
              <a:t>P.A. COLLEGE OF ENGINEERING
</a:t>
            </a:r>
            <a:r>
              <a:rPr sz="2000" b="1">
                <a:solidFill>
                  <a:srgbClr val="000000"/>
                </a:solidFill>
                <a:latin typeface="Times New Roman"/>
              </a:rPr>
              <a:t>DEPARTMENT OF COMPUTER SCIENCE &amp;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79676"/>
            <a:ext cx="16459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 indent="0" marL="0">
              <a:buNone/>
            </a:pPr>
            <a:r>
              <a:rPr sz="3400" b="1">
                <a:solidFill>
                  <a:srgbClr val="1757AC"/>
                </a:solidFill>
                <a:latin typeface="Times New Roman"/>
              </a:rPr>
              <a:t>TECHNOLOGY / TOOLS REQUIRED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295" y="3261665"/>
            <a:ext cx="16303752" cy="6035040"/>
          </a:xfrm>
          <a:prstGeom prst="rect">
            <a:avLst/>
          </a:prstGeom>
          <a:noFill/>
        </p:spPr>
        <p:txBody>
          <a:bodyPr wrap="square"/>
          <a:lstStyle/>
          <a:p>
            <a:pPr marL="406400" indent="-406400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sz="2100">
                <a:solidFill>
                  <a:srgbClr val="000000"/>
                </a:solidFill>
                <a:latin typeface="Times New Roman"/>
              </a:rPr>
              <a:t>Programming: Python for machine learning and backend services; JavaScript for the frontend.</a:t>
            </a:r>
          </a:p>
          <a:p>
            <a:pPr marL="406400" indent="-406400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sz="2100">
                <a:solidFill>
                  <a:srgbClr val="000000"/>
                </a:solidFill>
                <a:latin typeface="Times New Roman"/>
              </a:rPr>
              <a:t>ML and backend: PyTorch, FastAPI, SQLite, scikit-learn, and SHAP.</a:t>
            </a:r>
          </a:p>
          <a:p>
            <a:pPr marL="406400" indent="-406400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sz="2100">
                <a:solidFill>
                  <a:srgbClr val="000000"/>
                </a:solidFill>
                <a:latin typeface="Times New Roman"/>
              </a:rPr>
              <a:t>Frontend: React, Vite, and Tailwind CSS.</a:t>
            </a:r>
          </a:p>
          <a:p>
            <a:pPr marL="406400" indent="-406400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sz="2100">
                <a:solidFill>
                  <a:srgbClr val="000000"/>
                </a:solidFill>
                <a:latin typeface="Times New Roman"/>
              </a:rPr>
              <a:t>Dataset: PhysioNet / Computing in Cardiology Challenge 2012.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1560" y="6355080"/>
            <a:ext cx="3246120" cy="224028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1757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1757AC"/>
                </a:solidFill>
                <a:latin typeface="Times New Roman"/>
              </a:rPr>
              <a:t>SENSE</a:t>
            </a:r>
          </a:p>
          <a:p>
            <a:pPr algn="ctr">
              <a:spcBef>
                <a:spcPts val="600"/>
              </a:spcBef>
            </a:pPr>
            <a:r>
              <a:rPr sz="1500">
                <a:solidFill>
                  <a:srgbClr val="000000"/>
                </a:solidFill>
                <a:latin typeface="Times New Roman"/>
              </a:rPr>
              <a:t>ESP32 + MAX30105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370832" y="7274052"/>
            <a:ext cx="539496" cy="402336"/>
          </a:xfrm>
          <a:prstGeom prst="rightArrow">
            <a:avLst/>
          </a:prstGeom>
          <a:solidFill>
            <a:srgbClr val="175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83480" y="6355080"/>
            <a:ext cx="3246120" cy="224028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1757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1757AC"/>
                </a:solidFill>
                <a:latin typeface="Times New Roman"/>
              </a:rPr>
              <a:t>INGEST</a:t>
            </a:r>
          </a:p>
          <a:p>
            <a:pPr algn="ctr">
              <a:spcBef>
                <a:spcPts val="600"/>
              </a:spcBef>
            </a:pPr>
            <a:r>
              <a:rPr sz="1500">
                <a:solidFill>
                  <a:srgbClr val="000000"/>
                </a:solidFill>
                <a:latin typeface="Times New Roman"/>
              </a:rPr>
              <a:t>FastAPI + SQLite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302752" y="7274052"/>
            <a:ext cx="539496" cy="402336"/>
          </a:xfrm>
          <a:prstGeom prst="rightArrow">
            <a:avLst/>
          </a:prstGeom>
          <a:solidFill>
            <a:srgbClr val="175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915400" y="6355080"/>
            <a:ext cx="3246120" cy="224028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1757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1757AC"/>
                </a:solidFill>
                <a:latin typeface="Times New Roman"/>
              </a:rPr>
              <a:t>SCORE</a:t>
            </a:r>
          </a:p>
          <a:p>
            <a:pPr algn="ctr">
              <a:spcBef>
                <a:spcPts val="600"/>
              </a:spcBef>
            </a:pPr>
            <a:r>
              <a:rPr sz="1500">
                <a:solidFill>
                  <a:srgbClr val="000000"/>
                </a:solidFill>
                <a:latin typeface="Times New Roman"/>
              </a:rPr>
              <a:t>AttentionLSTM 0–100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12234672" y="7274052"/>
            <a:ext cx="539496" cy="402336"/>
          </a:xfrm>
          <a:prstGeom prst="rightArrow">
            <a:avLst/>
          </a:prstGeom>
          <a:solidFill>
            <a:srgbClr val="175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2847320" y="6355080"/>
            <a:ext cx="3246120" cy="224028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1757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1757AC"/>
                </a:solidFill>
                <a:latin typeface="Times New Roman"/>
              </a:rPr>
              <a:t>ACT</a:t>
            </a:r>
          </a:p>
          <a:p>
            <a:pPr algn="ctr">
              <a:spcBef>
                <a:spcPts val="600"/>
              </a:spcBef>
            </a:pPr>
            <a:r>
              <a:rPr sz="1500">
                <a:solidFill>
                  <a:srgbClr val="000000"/>
                </a:solidFill>
                <a:latin typeface="Times New Roman"/>
              </a:rPr>
              <a:t>Dashboard + alerts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15261" cy="217901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72739" y="0"/>
            <a:ext cx="2315261" cy="217901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073652" y="886054"/>
            <a:ext cx="10113264" cy="1234440"/>
          </a:xfrm>
          <a:prstGeom prst="rect">
            <a:avLst/>
          </a:prstGeom>
          <a:noFill/>
        </p:spPr>
        <p:txBody>
          <a:bodyPr wrap="square"/>
          <a:lstStyle/>
          <a:p>
            <a:pPr algn="ctr" indent="0" marL="0">
              <a:lnSpc>
                <a:spcPct val="150000"/>
              </a:lnSpc>
              <a:buNone/>
            </a:pPr>
            <a:r>
              <a:rPr sz="2800" b="1">
                <a:solidFill>
                  <a:srgbClr val="000000"/>
                </a:solidFill>
                <a:latin typeface="Times New Roman"/>
              </a:rPr>
              <a:t>P.A. COLLEGE OF ENGINEERING
</a:t>
            </a:r>
            <a:r>
              <a:rPr sz="2000" b="1">
                <a:solidFill>
                  <a:srgbClr val="000000"/>
                </a:solidFill>
                <a:latin typeface="Times New Roman"/>
              </a:rPr>
              <a:t>DEPARTMENT OF COMPUTER SCIENCE &amp;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79676"/>
            <a:ext cx="16459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 indent="0" marL="0">
              <a:buNone/>
            </a:pPr>
            <a:r>
              <a:rPr sz="3400" b="1">
                <a:solidFill>
                  <a:srgbClr val="1757AC"/>
                </a:solidFill>
                <a:latin typeface="Times New Roman"/>
              </a:rPr>
              <a:t>SDG RELEVANCE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295" y="3261665"/>
            <a:ext cx="16303752" cy="6035040"/>
          </a:xfrm>
          <a:prstGeom prst="rect">
            <a:avLst/>
          </a:prstGeom>
          <a:noFill/>
        </p:spPr>
        <p:txBody>
          <a:bodyPr wrap="square"/>
          <a:lstStyle/>
          <a:p>
            <a:pPr marL="406400" indent="-406400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sz="2100">
                <a:solidFill>
                  <a:srgbClr val="000000"/>
                </a:solidFill>
                <a:latin typeface="Times New Roman"/>
              </a:rPr>
              <a:t>SDG 3 - Good Health and Well-Being: earlier detection of ICU deterioration supports timely clinical review and better patient monitoring.</a:t>
            </a:r>
          </a:p>
          <a:p>
            <a:pPr/>
            <a:r>
              <a:rPr sz="2100">
                <a:solidFill>
                  <a:srgbClr val="000000"/>
                </a:solidFill>
                <a:latin typeface="Times New Roman"/>
              </a:rPr>
              <a:t>SDG 9 - Industry, Innovation and Infrastructure: explainable deep learning integrated into a modern monitoring workflow - ML, APIs, visualization, and sensor-ready architecture.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15261" cy="217901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72739" y="0"/>
            <a:ext cx="2315261" cy="217901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073652" y="886054"/>
            <a:ext cx="10113264" cy="1234440"/>
          </a:xfrm>
          <a:prstGeom prst="rect">
            <a:avLst/>
          </a:prstGeom>
          <a:noFill/>
        </p:spPr>
        <p:txBody>
          <a:bodyPr wrap="square"/>
          <a:lstStyle/>
          <a:p>
            <a:pPr algn="ctr" indent="0" marL="0">
              <a:lnSpc>
                <a:spcPct val="150000"/>
              </a:lnSpc>
              <a:buNone/>
            </a:pPr>
            <a:r>
              <a:rPr sz="2800" b="1">
                <a:solidFill>
                  <a:srgbClr val="000000"/>
                </a:solidFill>
                <a:latin typeface="Times New Roman"/>
              </a:rPr>
              <a:t>P.A. COLLEGE OF ENGINEERING
</a:t>
            </a:r>
            <a:r>
              <a:rPr sz="2000" b="1">
                <a:solidFill>
                  <a:srgbClr val="000000"/>
                </a:solidFill>
                <a:latin typeface="Times New Roman"/>
              </a:rPr>
              <a:t>DEPARTMENT OF COMPUTER SCIENCE &amp;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79676"/>
            <a:ext cx="16459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 indent="0" marL="0">
              <a:buNone/>
            </a:pPr>
            <a:r>
              <a:rPr sz="3400" b="1">
                <a:solidFill>
                  <a:srgbClr val="1757AC"/>
                </a:solidFill>
                <a:latin typeface="Times New Roman"/>
              </a:rPr>
              <a:t>FUTURE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295" y="3261665"/>
            <a:ext cx="16303752" cy="6035040"/>
          </a:xfrm>
          <a:prstGeom prst="rect">
            <a:avLst/>
          </a:prstGeom>
          <a:noFill/>
        </p:spPr>
        <p:txBody>
          <a:bodyPr wrap="square"/>
          <a:lstStyle/>
          <a:p>
            <a:pPr marL="406400" indent="-406400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sz="2100">
                <a:solidFill>
                  <a:srgbClr val="000000"/>
                </a:solidFill>
                <a:latin typeface="Times New Roman"/>
              </a:rPr>
              <a:t>Calibration + decision-curve analysis for bedside thresholds.</a:t>
            </a:r>
          </a:p>
          <a:p>
            <a:pPr marL="406400" indent="-406400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sz="2100">
                <a:solidFill>
                  <a:srgbClr val="000000"/>
                </a:solidFill>
                <a:latin typeface="Times New Roman"/>
              </a:rPr>
              <a:t>Subgroup and fairness validation across age, sex, and hospitals.</a:t>
            </a:r>
          </a:p>
          <a:p>
            <a:pPr marL="406400" indent="-406400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sz="2100">
                <a:solidFill>
                  <a:srgbClr val="000000"/>
                </a:solidFill>
                <a:latin typeface="Times New Roman"/>
              </a:rPr>
              <a:t>Edge/TinyML deployment for wearable live vitals.</a:t>
            </a:r>
          </a:p>
          <a:p>
            <a:pPr marL="406400" indent="-406400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sz="2100">
                <a:solidFill>
                  <a:srgbClr val="000000"/>
                </a:solidFill>
                <a:latin typeface="Times New Roman"/>
              </a:rPr>
              <a:t>Prospective clinical pilot with collaborators.</a:t>
            </a:r>
          </a:p>
          <a:p>
            <a:pPr marL="406400" indent="-406400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sz="2100">
                <a:solidFill>
                  <a:srgbClr val="000000"/>
                </a:solidFill>
                <a:latin typeface="Times New Roman"/>
              </a:rPr>
              <a:t>Privacy-preserving multi-hospital training.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15261" cy="217901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72739" y="0"/>
            <a:ext cx="2315261" cy="217901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073652" y="886054"/>
            <a:ext cx="10113264" cy="1234440"/>
          </a:xfrm>
          <a:prstGeom prst="rect">
            <a:avLst/>
          </a:prstGeom>
          <a:noFill/>
        </p:spPr>
        <p:txBody>
          <a:bodyPr wrap="square"/>
          <a:lstStyle/>
          <a:p>
            <a:pPr algn="ctr" indent="0" marL="0">
              <a:lnSpc>
                <a:spcPct val="150000"/>
              </a:lnSpc>
              <a:buNone/>
            </a:pPr>
            <a:r>
              <a:rPr sz="2800" b="1">
                <a:solidFill>
                  <a:srgbClr val="000000"/>
                </a:solidFill>
                <a:latin typeface="Times New Roman"/>
              </a:rPr>
              <a:t>P.A. COLLEGE OF ENGINEERING
</a:t>
            </a:r>
            <a:r>
              <a:rPr sz="2000" b="1">
                <a:solidFill>
                  <a:srgbClr val="000000"/>
                </a:solidFill>
                <a:latin typeface="Times New Roman"/>
              </a:rPr>
              <a:t>DEPARTMENT OF COMPUTER SCIENCE &amp;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79676"/>
            <a:ext cx="16459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 indent="0" marL="0">
              <a:buNone/>
            </a:pPr>
            <a:r>
              <a:rPr sz="3400" b="1">
                <a:solidFill>
                  <a:srgbClr val="1757AC"/>
                </a:solidFill>
                <a:latin typeface="Times New Roman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295" y="3261665"/>
            <a:ext cx="16303752" cy="6035040"/>
          </a:xfrm>
          <a:prstGeom prst="rect">
            <a:avLst/>
          </a:prstGeom>
          <a:noFill/>
        </p:spPr>
        <p:txBody>
          <a:bodyPr wrap="square"/>
          <a:lstStyle/>
          <a:p>
            <a:pPr marL="406400" indent="-406400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sz="2100">
                <a:solidFill>
                  <a:srgbClr val="000000"/>
                </a:solidFill>
                <a:latin typeface="Times New Roman"/>
              </a:rPr>
              <a:t>SynCura demonstrates an end-to-end explainable ICU risk-monitoring workflow from clinical time-series input to dashboard output.</a:t>
            </a:r>
          </a:p>
          <a:p>
            <a:pPr/>
            <a:r>
              <a:rPr sz="2100">
                <a:solidFill>
                  <a:srgbClr val="000000"/>
                </a:solidFill>
                <a:latin typeface="Times New Roman"/>
              </a:rPr>
              <a:t>Temporal attention and SHAP provide an interpretable view of which time steps and features influenced the prediction.</a:t>
            </a:r>
          </a:p>
          <a:p>
            <a:pPr/>
            <a:r>
              <a:rPr sz="2100">
                <a:solidFill>
                  <a:srgbClr val="000000"/>
                </a:solidFill>
                <a:latin typeface="Times New Roman"/>
              </a:rPr>
              <a:t>The deployed ensemble achieved 0.840 validation AUC and 0.844 set-B holdout AUC.</a:t>
            </a:r>
          </a:p>
          <a:p>
            <a:pPr/>
            <a:r>
              <a:rPr sz="2100">
                <a:solidFill>
                  <a:srgbClr val="000000"/>
                </a:solidFill>
                <a:latin typeface="Times New Roman"/>
              </a:rPr>
              <a:t>These results support the prototype concept, while further clinical and external validation is required before real-world use.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15261" cy="217901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72739" y="0"/>
            <a:ext cx="2315261" cy="217901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073652" y="886054"/>
            <a:ext cx="10113264" cy="1234440"/>
          </a:xfrm>
          <a:prstGeom prst="rect">
            <a:avLst/>
          </a:prstGeom>
          <a:noFill/>
        </p:spPr>
        <p:txBody>
          <a:bodyPr wrap="square"/>
          <a:lstStyle/>
          <a:p>
            <a:pPr algn="ctr" indent="0" marL="0">
              <a:lnSpc>
                <a:spcPct val="150000"/>
              </a:lnSpc>
              <a:buNone/>
            </a:pPr>
            <a:r>
              <a:rPr sz="2800" b="1">
                <a:solidFill>
                  <a:srgbClr val="000000"/>
                </a:solidFill>
                <a:latin typeface="Times New Roman"/>
              </a:rPr>
              <a:t>P.A. COLLEGE OF ENGINEERING
</a:t>
            </a:r>
            <a:r>
              <a:rPr sz="2000" b="1">
                <a:solidFill>
                  <a:srgbClr val="000000"/>
                </a:solidFill>
                <a:latin typeface="Times New Roman"/>
              </a:rPr>
              <a:t>DEPARTMENT OF COMPUTER SCIENCE &amp;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79676"/>
            <a:ext cx="16459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 indent="0" marL="0">
              <a:buNone/>
            </a:pPr>
            <a:r>
              <a:rPr sz="3400" b="1">
                <a:solidFill>
                  <a:srgbClr val="1757AC"/>
                </a:solidFill>
                <a:latin typeface="Times New Roman"/>
              </a:rPr>
              <a:t>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295" y="3261665"/>
            <a:ext cx="16303752" cy="6035040"/>
          </a:xfrm>
          <a:prstGeom prst="rect">
            <a:avLst/>
          </a:prstGeom>
          <a:noFill/>
        </p:spPr>
        <p:txBody>
          <a:bodyPr wrap="square"/>
          <a:lstStyle/>
          <a:p>
            <a:pPr marL="406400" indent="-406400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sz="1300"/>
              <a:t>[1] Zheng et al. (2025). Development and Validation of a Dynamic Real-Time Risk Prediction Model for ICU Patients Based on Longitudinal Irregular Data. JMIR 27, e69293. doi:10.2196/69293</a:t>
            </a:r>
          </a:p>
          <a:p>
            <a:pPr marL="406400" indent="-406400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sz="1300"/>
              <a:t>[2] Wang, Bai &amp; Jin (2026). Explainable Deep-Learning Models for ICU Outcomes. Frontiers in Physiology 17.</a:t>
            </a:r>
          </a:p>
          <a:p>
            <a:pPr marL="406400" indent="-406400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sz="1300"/>
              <a:t>[3] Yan et al. (2026). Deep Learning-Based In-Hospital Mortality Prediction Using Long-Term Sequential Data in ICU Patients. PeerJ 14, e21631.</a:t>
            </a:r>
          </a:p>
          <a:p>
            <a:pPr marL="406400" indent="-406400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sz="1300"/>
              <a:t>[4] Sadanandan (2026). Multimodal Deep Learning for Early Prediction of Patient Deterioration in the ICU. arXiv:2603.14719.</a:t>
            </a:r>
          </a:p>
          <a:p>
            <a:pPr marL="406400" indent="-406400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sz="1300"/>
              <a:t>[5] Wu et al. (2024). Revisiting the Potential Value of Vital Signs in Real-Time Prediction of Mortality Risk in ICU Patients. J Big Data 11, 40.</a:t>
            </a:r>
          </a:p>
          <a:p>
            <a:pPr marL="406400" indent="-406400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sz="1300"/>
              <a:t>[6] Xie et al. (2025). Unlocking Real-Time ICU Mortality Prediction: RealMIP Continuous Data Recovery. npj Digital Medicine 8, 733.</a:t>
            </a:r>
          </a:p>
          <a:p>
            <a:pPr marL="406400" indent="-406400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sz="1300"/>
              <a:t>[7] Choi et al. (2020). Deep Interpretable Early Warning System for Clinical Deterioration. IEEE JBHI 24(9).</a:t>
            </a:r>
          </a:p>
          <a:p>
            <a:pPr marL="406400" indent="-406400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sz="1300"/>
              <a:t>[8] Li et al. (2025). Attention Residual LSTM-FCN for Clinical Time-Series Prediction. IEEE Access 13.</a:t>
            </a:r>
          </a:p>
          <a:p>
            <a:r>
              <a:t>[9] Scheid et al. (2025). Wearable Deep Learning for Continuous In-Hospital Deterioration Prediction. Nature Communications 16, 9513.</a:t>
            </a:r>
          </a:p>
          <a:p>
            <a:r>
              <a:t>[10] PhysioNet Challenge 2012. Predicting Mortality of ICU Patients. physionet.org/content/challenge-2012/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15261" cy="217901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72739" y="0"/>
            <a:ext cx="2315261" cy="217901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073652" y="886054"/>
            <a:ext cx="10113264" cy="1234440"/>
          </a:xfrm>
          <a:prstGeom prst="rect">
            <a:avLst/>
          </a:prstGeom>
          <a:noFill/>
        </p:spPr>
        <p:txBody>
          <a:bodyPr wrap="square"/>
          <a:lstStyle/>
          <a:p>
            <a:pPr algn="ctr" indent="0" marL="0">
              <a:lnSpc>
                <a:spcPct val="150000"/>
              </a:lnSpc>
              <a:buNone/>
            </a:pPr>
            <a:r>
              <a:rPr sz="2800" b="1">
                <a:solidFill>
                  <a:srgbClr val="000000"/>
                </a:solidFill>
                <a:latin typeface="Times New Roman"/>
              </a:rPr>
              <a:t>P.A. COLLEGE OF ENGINEERING
</a:t>
            </a:r>
            <a:r>
              <a:rPr sz="2000" b="1">
                <a:solidFill>
                  <a:srgbClr val="000000"/>
                </a:solidFill>
                <a:latin typeface="Times New Roman"/>
              </a:rPr>
              <a:t>DEPARTMENT OF COMPUTER SCIENCE &amp;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64592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 indent="0" marL="0">
              <a:buNone/>
            </a:pPr>
            <a:r>
              <a:rPr sz="6000" b="1">
                <a:solidFill>
                  <a:srgbClr val="000000"/>
                </a:solidFill>
                <a:latin typeface="Times New Roman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