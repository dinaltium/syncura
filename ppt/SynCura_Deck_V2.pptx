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0" r:id="rId9"/>
    <p:sldId id="258" r:id="rId7"/>
    <p:sldId id="259" r:id="rId8"/>
    <p:sldId id="268" r:id="rId17"/>
    <p:sldId id="269" r:id="rId18"/>
    <p:sldId id="261" r:id="rId10"/>
    <p:sldId id="270" r:id="rId19"/>
    <p:sldId id="262" r:id="rId11"/>
    <p:sldId id="271" r:id="rId20"/>
    <p:sldId id="265" r:id="rId14"/>
    <p:sldId id="272" r:id="rId21"/>
    <p:sldId id="273" r:id="rId13"/>
    <p:sldId id="263" r:id="rId12"/>
    <p:sldId id="266" r:id="rId15"/>
    <p:sldId id="267" r:id="rId16"/>
  </p:sldIdLst>
  <p:sldSz cy="10287000" cx="18288000"/>
  <p:notesSz cx="10287000" cy="18288000"/>
  <p:defaultTextStyle>
    <a:defPPr lvl="0"/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2.xml"/><Relationship Id="rId10" Type="http://schemas.openxmlformats.org/officeDocument/2006/relationships/slide" Target="slides/slide7.xml"/><Relationship Id="rId11" Type="http://schemas.openxmlformats.org/officeDocument/2006/relationships/slide" Target="slides/slide9.xml"/><Relationship Id="rId12" Type="http://schemas.openxmlformats.org/officeDocument/2006/relationships/slide" Target="slides/slide14.xml"/><Relationship Id="rId13" Type="http://schemas.openxmlformats.org/officeDocument/2006/relationships/slide" Target="slides/slide13.xml"/><Relationship Id="rId14" Type="http://schemas.openxmlformats.org/officeDocument/2006/relationships/slide" Target="slides/slide11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8.xml"/><Relationship Id="rId20" Type="http://schemas.openxmlformats.org/officeDocument/2006/relationships/slide" Target="slides/slide10.xml"/><Relationship Id="rId21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SynCura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1280160" y="3063240"/>
            <a:ext cx="1572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Predictive ICU Monitoring System Using Attention-Based LSTM with Real-Time Explainability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850392" y="6236208"/>
            <a:ext cx="6446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MEMBERS :
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Abdul Ahad Ikkeri – 4PA24CS002
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Fathima Reeha – 4PA24CS026
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Fizan Feroz – 4PA24CS032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0808208" y="6236208"/>
            <a:ext cx="60899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dirty="0" sz="2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ICU deterioration is difficult to identify early from isolated measurements and manual score calculations.</a:t>
            </a:r>
            <a:endParaRPr sz="2200"/>
          </a:p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Existing rule-based scores do not fully capture the direction, duration, and interaction of changing observations.</a:t>
            </a:r>
            <a:endParaRPr sz="2200"/>
          </a:p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Clinicians need an early-warning aid that processes recent patient history and presents understandable reasons for its risk score.</a:t>
            </a:r>
            <a:endParaRPr sz="2200"/>
          </a:p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challenge is to build and evaluate a real-time, explainable prototype without presenting it as a validated clinical device.</a:t>
            </a:r>
            <a:endParaRPr sz="2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MOTIVATION / NEED FOR THE PROJECT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200">
                <a:solidFill>
                  <a:srgbClr val="000000"/>
                </a:solidFill>
                <a:latin typeface="Times New Roman"/>
              </a:rPr>
              <a:t>ICU deterioration can progress rapidly, making early recognition important for timely clinical intervention.</a:t>
            </a:r>
            <a:endParaRPr sz="2200"/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Rule-based scores such as NEWS2 and SOFA use threshold-driven assessments and do not directly model longitudinal trends.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SynCura applies temporal deep learning to streaming-style vital and clinical measurements.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The project focuses on an explainable software prototype, not autonomous clinical decision-making.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EXISTING SYSTEM / RELATED WORK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 PAPER - Zheng et al. (2025): Time-aware bidirectional attention LSTM for real-time ICU mortality (MIMIC-IV + eICU, dynamic AUROC 0.936). Adapted by SynCura on PhysioNet 2012.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Supporting papers:</a:t>
            </a:r>
            <a:endParaRPr sz="1500"/>
          </a:p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Wang, Bai and Jin (2026) - Explainable LSTM models for ICU outcomes; AUC 0.79-0.87.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Yan et al. (2026) - Sequential ICU mortality models; plain LSTM AUC 0.802.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Sadanandan (2026) - Multimodal time-series and clinical-note fusion; AUROC 0.7857.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Wu et al. (2024) - Real-time vital-sign mortality prediction; LSTM AUC 0.9263.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Xie et al. (2025) - RealMIP continuous-data recovery for ICU mortality prediction.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Choi et al. (2020) - Deep interpretable early warning with BiLSTM attention.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 et al. (2025) - Attention residual LSTM-FCN for clinical time-series prediction.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Scheid et al. (2025) - Wearable deep learning for continuous in-hospital deterioration prediction.</a:t>
            </a:r>
            <a:endParaRPr sz="1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BASE PAPER / REFERENCE PAPER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Title: Development and Validation of a Dynamic Real-Time Risk Prediction Model for ICU Patients Based on Longitudinal Irregular Data.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Authors: Zheng, Luo, Zhu, Du, Lan, Zhou, Yang and Huang. Year: 2025. Journal: JMIR, vol. 27, e69293.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Method: time-aware bidirectional attention LSTM (TBAL) on 176,344 ICU stays from MIMIC-IV with eICU cross-validation; hourly risk updates.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Results: dynamic AUROC 0.936 on MIMIC-IV and 0.919 on external eICU data; recall 79.1%.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Adaptation: same architecture-task match - attention LSTM for real-time ICU risk; SynCura adds SHAP feature explanations.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 b="0">
                <a:solidFill>
                  <a:srgbClr val="000000"/>
                </a:solidFill>
                <a:latin typeface="Times New Roman"/>
              </a:rPr>
              <a:t>Limitation: retrospective data till discharge; AUROC rises to 98.9 at discharge (hindsight bias). SynCura fixes this with 90-min only, no future info.</a:t>
            </a:r>
            <a:endParaRPr sz="2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PROPOSED SOLUTION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Idea: SynCura - an attention-based LSTM over a rolling 90-minute window of 12 clinical features, returning a 0-100 risk score with explanations.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metrics: reports false alarms, sensitivity, specificity, precision, lead time, and a NEWS2 comparison; most papers report AUC only.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evidence: fresh unseen 20% set-B holdout AUC 0.844 exceeds validation AUC 0.840.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deployment: an end-to-end FastAPI serving path, alerts, and HTTP and MQTT ingestion - not just a trained model.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learns from mistakes: confirmed misses/false alarms queue into weighted retraining.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METHODOLOGY / PROPOSED APPROACH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Dataset: PhysioNet 2012 Challenge with 12 features: six vital signs plus GCS, BUN, Creatinine, WBC, Platelets, and Glucose.</a:t>
            </a:r>
            <a:endParaRPr sz="20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interpolation, train-only population Z-score normalization, 90-minute windows, and 15-minute stride.</a:t>
            </a:r>
            <a:endParaRPr sz="20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Model: two-layer LSTM with hidden size 96, additive temporal attention, dropout, batch normalization, and sigmoid risk output.</a:t>
            </a:r>
            <a:endParaRPr sz="20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Deployment: FastAPI inference and React visualization, with SHAP feature importance and attention-based temporal explanations.</a:t>
            </a:r>
            <a:endParaRPr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EXPECTED OUTCOME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A working real-time ICU dashboard displaying deterioration risk from recent clinical measurements.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 0-to-100 risk score with temporal and feature-level explanations for each patient.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An AUC-ROC target in the realistic 0.78-0.93 range for a single-dataset vitals-plus-labs system.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Investigate earlier warning relative to the NEWS2 baseline, measured properly.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Demonstrate a feasible, explainable research prototype - not clinical deployment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RESULT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Deployed ensemble: 0.840 validation AUC and 0.844 AUC on the fresh unseen 20% set-B holdout.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Holdout performance exceeds validation performance, indicating no overfitting to the validation split.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Evaluation also reports sensitivity, specificity, precision, false-alarm count, and lead-time estimate, benchmarked against the NEWS2 baseline.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Next evaluation steps: calibration, threshold analysis, and prospective validation before clinical use.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HOW IT COULD BE BETTER WITH ENOUGH TIME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Paper: 0.936 overall, 98.9 at discharge (hindsight); cross-hospital falls to 0.81 / 0.76, no prospective test.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Real world: US-only retrospective, missing/async vitals, age bias, single-center data.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SynCura stricter: 90-min window only, no future info; unseen holdout 0.844 beats validation 0.840.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SynCura reports what papers skip: false alarms, precision, lead time vs NEWS2, calibration.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Better-paper path: eICU/MIMIC validation + RealMIP imputation + time-aware attention +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TECHNOLOGY / TOOLS REQUIRED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Programming: Python for machine learning and backend services; JavaScript for the frontend.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 and backend: PyTorch, FastAPI, SQLite, scikit-learn, and SHAP.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Frontend: React, Vite, and Tailwind CSS.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Dataset: PhysioNet / Computing in Cardiology Challenge 2012.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SDG relevance: SDG 3 (Good Health and Well-Being) and SDG 9 (Industry, Innovation and Infrastructure).</a:t>
            </a:r>
            <a:endParaRPr sz="2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SDG RELEVANCE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SDG 3 - Good Health and Well-Being: earlier detection of ICU deterioration supports timely clinical review and better patient monitoring.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SDG 9 - Industry, Innovation and Infrastructure: explainable deep learning integrated into a modern monitoring workflow - ML, APIs, visualization, and sensor-ready architecture.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SCOPE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Perform calibration, decision-curve analysis, and prospective evaluation with clinical collaborators.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robust missing-data handling and test performance across hospitals and patient subgroups.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attention-LSTM with transformer and graph-based temporal models.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Explore multimodal fusion with clinical notes and safer integration with real bedside data streams.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Investigate privacy-preserving and edge-assisted deployment only after clinical validation.</a:t>
            </a:r>
            <a:endParaRPr sz="2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SynCura demonstrates an end-to-end explainable ICU risk-monitoring workflow from clinical time-series input to dashboard output.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Temporal attention and SHAP provide an interpretable view of which time steps and features influenced the prediction.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The deployed ensemble achieved 0.840 validation AUC and 0.844 set-B holdout AUC.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These results support the prototype concept, while further clinical and external validation is required before real-world 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REFERENCES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[1] Y. Wang, Y. Bai, and G. Jin, Explainable Deep-Learning Models..., Frontiers in Physiology, vol. 17, 2026.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[2] Z. Yan et al., Deep learning-based in-hospital mortality prediction..., PeerJ, vol. 14, e21631, 2026.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[3] B. Sadanandan, Multimodal Deep Learning for Early Prediction..., arXiv:2603.14719, 2026.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[4] Y. Wu et al., Revisiting the potential value of vital signs..., Journal of Big Data, vol. 11, no. 40, 2024.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[5] P. Xie et al., Unlocking real-time ICU mortality prediction..., npj Digital Medicine, vol. 8, 733, 2025.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[6] E. Choi et al., Deep Interpretable Early Warning System..., IEEE JBHI, vol. 24, no. 9, 2020.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[7] M. R. Scheid et al., Clinical wearable deep learning based deterioration prediction..., Nature Communications, vol. 16, 9513, 2025.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[8] PhysioNet, Computing in Cardiology Challenge 2012, physionet.org/content/challenge-2012/.</a:t>
            </a:r>
            <a:endParaRPr sz="14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4389120"/>
            <a:ext cx="1645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