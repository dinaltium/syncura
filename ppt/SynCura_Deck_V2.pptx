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800" b="1">
                <a:solidFill>
                  <a:srgbClr val="000000"/>
                </a:solidFill>
                <a:latin typeface="Times New Roman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Times New Roman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6000" b="1">
                <a:solidFill>
                  <a:srgbClr val="000000"/>
                </a:solidFill>
                <a:latin typeface="Times New Roman"/>
              </a:rPr>
              <a:t>SynCura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063240"/>
            <a:ext cx="1572768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3200" b="1">
                <a:solidFill>
                  <a:srgbClr val="000000"/>
                </a:solidFill>
                <a:latin typeface="Times New Roman"/>
              </a:rPr>
              <a:t>Predictive ICU Monitoring System Using Attention-Based LSTM with Real-Time Explainability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6236208"/>
            <a:ext cx="6446520" cy="2286000"/>
          </a:xfrm>
          <a:prstGeom prst="rect">
            <a:avLst/>
          </a:prstGeom>
          <a:noFill/>
        </p:spPr>
        <p:txBody>
          <a:bodyPr wrap="square"/>
          <a:lstStyle/>
          <a:p>
            <a:pPr indent="0" marL="0">
              <a:lnSpc>
                <a:spcPct val="150000"/>
              </a:lnSpc>
              <a:buNone/>
            </a:pPr>
            <a:r>
              <a:rPr sz="2800" b="1">
                <a:solidFill>
                  <a:srgbClr val="000000"/>
                </a:solidFill>
                <a:latin typeface="Times New Roman"/>
              </a:rPr>
              <a:t>TEAM MEMBERS :
</a:t>
            </a:r>
            <a:r>
              <a:rPr sz="2800">
                <a:solidFill>
                  <a:srgbClr val="000000"/>
                </a:solidFill>
                <a:latin typeface="Times New Roman"/>
              </a:rPr>
              <a:t>Abdul Ahad Ikkeri – 4PA24CS002
</a:t>
            </a:r>
            <a:r>
              <a:rPr sz="2800">
                <a:solidFill>
                  <a:srgbClr val="000000"/>
                </a:solidFill>
                <a:latin typeface="Times New Roman"/>
              </a:rPr>
              <a:t>Fathima Reeha – 4PA24CS026
</a:t>
            </a:r>
            <a:r>
              <a:rPr sz="2800">
                <a:solidFill>
                  <a:srgbClr val="000000"/>
                </a:solidFill>
                <a:latin typeface="Times New Roman"/>
              </a:rPr>
              <a:t>Fizan Feroz – 4PA24CS032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8208" y="6236208"/>
            <a:ext cx="6089904" cy="1828800"/>
          </a:xfrm>
          <a:prstGeom prst="rect">
            <a:avLst/>
          </a:prstGeom>
          <a:noFill/>
        </p:spPr>
        <p:txBody>
          <a:bodyPr wrap="square"/>
          <a:lstStyle/>
          <a:p>
            <a:p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800" b="1">
                <a:solidFill>
                  <a:srgbClr val="000000"/>
                </a:solidFill>
                <a:latin typeface="Times New Roman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Times New Roman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1463040"/>
          </a:xfrm>
          <a:prstGeom prst="rect">
            <a:avLst/>
          </a:prstGeom>
          <a:noFill/>
        </p:spPr>
        <p:txBody>
          <a:bodyPr wrap="square"/>
          <a:lstStyle/>
          <a:p>
            <a:pPr indent="0" marL="0">
              <a:lnSpc>
                <a:spcPct val="150000"/>
              </a:lnSpc>
              <a:buNone/>
            </a:pPr>
            <a:r>
              <a:rPr sz="2200" b="1">
                <a:solidFill>
                  <a:srgbClr val="000000"/>
                </a:solidFill>
                <a:latin typeface="Times New Roman"/>
              </a:rPr>
              <a:t>ICU deterioration is difficult to identify early from isolated measurements and manual score calculations.</a:t>
            </a:r>
          </a:p>
          <a:p>
            <a:pPr indent="0" marL="0">
              <a:lnSpc>
                <a:spcPct val="150000"/>
              </a:lnSpc>
              <a:buNone/>
            </a:pPr>
            <a:r>
              <a:rPr sz="2200" b="1">
                <a:solidFill>
                  <a:srgbClr val="000000"/>
                </a:solidFill>
                <a:latin typeface="Times New Roman"/>
              </a:rPr>
              <a:t>Existing rule-based scores do not fully capture the direction, duration, and interaction of changing observations.</a:t>
            </a:r>
          </a:p>
          <a:p>
            <a:pPr indent="0" marL="0">
              <a:lnSpc>
                <a:spcPct val="150000"/>
              </a:lnSpc>
              <a:buNone/>
            </a:pPr>
            <a:r>
              <a:rPr sz="2200" b="1">
                <a:solidFill>
                  <a:srgbClr val="000000"/>
                </a:solidFill>
                <a:latin typeface="Times New Roman"/>
              </a:rPr>
              <a:t>Clinicians need an early-warning aid that processes recent patient history and presents understandable reasons for its risk score.</a:t>
            </a:r>
          </a:p>
          <a:p>
            <a:pPr indent="0" marL="0">
              <a:lnSpc>
                <a:spcPct val="150000"/>
              </a:lnSpc>
              <a:buNone/>
            </a:pPr>
            <a:r>
              <a:rPr sz="2200" b="1">
                <a:solidFill>
                  <a:srgbClr val="000000"/>
                </a:solidFill>
                <a:latin typeface="Times New Roman"/>
              </a:rPr>
              <a:t>The challenge is to build and evaluate a real-time, explainable prototype without presenting it as a validated clinical device.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800" b="1">
                <a:solidFill>
                  <a:srgbClr val="000000"/>
                </a:solidFill>
                <a:latin typeface="Times New Roman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Times New Roman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MOTIVATION / NEED FOR THE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200">
                <a:solidFill>
                  <a:srgbClr val="000000"/>
                </a:solidFill>
                <a:latin typeface="Times New Roman"/>
              </a:rPr>
              <a:t>ICU deterioration can progress rapidly, making early recognition important for timely clinical intervention.</a:t>
            </a:r>
          </a:p>
          <a:p>
            <a:pPr/>
            <a:r>
              <a:rPr sz="2200">
                <a:solidFill>
                  <a:srgbClr val="000000"/>
                </a:solidFill>
                <a:latin typeface="Times New Roman"/>
              </a:rPr>
              <a:t>Rule-based scores such as NEWS2 and SOFA use threshold-driven assessments and do not directly model longitudinal trends.</a:t>
            </a:r>
          </a:p>
          <a:p>
            <a:pPr/>
            <a:r>
              <a:rPr sz="2200">
                <a:solidFill>
                  <a:srgbClr val="000000"/>
                </a:solidFill>
                <a:latin typeface="Times New Roman"/>
              </a:rPr>
              <a:t>SynCura applies temporal deep learning to streaming-style vital and clinical measurements.</a:t>
            </a:r>
          </a:p>
          <a:p>
            <a:pPr/>
            <a:r>
              <a:rPr sz="2200">
                <a:solidFill>
                  <a:srgbClr val="000000"/>
                </a:solidFill>
                <a:latin typeface="Times New Roman"/>
              </a:rPr>
              <a:t>The project focuses on an explainable software prototype, not autonomous clinical decision-making.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800" b="1">
                <a:solidFill>
                  <a:srgbClr val="000000"/>
                </a:solidFill>
                <a:latin typeface="Times New Roman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Times New Roman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EXISTING SYSTEM / RELATED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BASE PAPER - Zheng et al. (2025): Time-aware bidirectional attention LSTM for real-time ICU mortality (MIMIC-IV + eICU, dynamic AUROC 0.936). Adapted by SynCura on PhysioNet 2012.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1500" b="1">
                <a:solidFill>
                  <a:srgbClr val="000000"/>
                </a:solidFill>
                <a:latin typeface="Times New Roman"/>
              </a:rPr>
              <a:t>Supporting papers: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1500">
                <a:solidFill>
                  <a:srgbClr val="000000"/>
                </a:solidFill>
                <a:latin typeface="Times New Roman"/>
              </a:rPr>
              <a:t>Wang, Bai and Jin (2026) - Explainable LSTM models for ICU outcomes; AUC 0.79-0.87.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1500">
                <a:solidFill>
                  <a:srgbClr val="000000"/>
                </a:solidFill>
                <a:latin typeface="Times New Roman"/>
              </a:rPr>
              <a:t>Yan et al. (2026) - Sequential ICU mortality models; plain LSTM AUC 0.802.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1500">
                <a:solidFill>
                  <a:srgbClr val="000000"/>
                </a:solidFill>
                <a:latin typeface="Times New Roman"/>
              </a:rPr>
              <a:t>Sadanandan (2026) - Multimodal time-series and clinical-note fusion; AUROC 0.7857.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1500">
                <a:solidFill>
                  <a:srgbClr val="000000"/>
                </a:solidFill>
                <a:latin typeface="Times New Roman"/>
              </a:rPr>
              <a:t>Wu et al. (2024) - Real-time vital-sign mortality prediction; LSTM AUC 0.9263.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1500">
                <a:solidFill>
                  <a:srgbClr val="000000"/>
                </a:solidFill>
                <a:latin typeface="Times New Roman"/>
              </a:rPr>
              <a:t>Xie et al. (2025) - RealMIP continuous-data recovery for ICU mortality prediction.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1500">
                <a:solidFill>
                  <a:srgbClr val="000000"/>
                </a:solidFill>
                <a:latin typeface="Times New Roman"/>
              </a:rPr>
              <a:t>Choi et al. (2020) - Deep interpretable early warning with BiLSTM attention.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1500">
                <a:solidFill>
                  <a:srgbClr val="000000"/>
                </a:solidFill>
                <a:latin typeface="Times New Roman"/>
              </a:rPr>
              <a:t>Li et al. (2025) - Attention residual LSTM-FCN for clinical time-series prediction.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1500">
                <a:solidFill>
                  <a:srgbClr val="000000"/>
                </a:solidFill>
                <a:latin typeface="Times New Roman"/>
              </a:rPr>
              <a:t>Scheid et al. (2025) - Wearable deep learning for continuous in-hospital deterioration prediction.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800" b="1">
                <a:solidFill>
                  <a:srgbClr val="000000"/>
                </a:solidFill>
                <a:latin typeface="Times New Roman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Times New Roman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BASE PAPER / REFERENCE PAPER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Title: Development and Validation of a Dynamic Real-Time Risk Prediction Model for ICU Patients Based on Longitudinal Irregular Data.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Authors: Zheng, Luo, Zhu, Du, Lan, Zhou, Yang and Huang. Year: 2025. Journal: JMIR, vol. 27, e69293.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Method: time-aware bidirectional attention LSTM (TBAL) on 176,344 ICU stays from MIMIC-IV with eICU cross-validation; hourly risk updates.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Results: dynamic AUROC 0.936 on MIMIC-IV and 0.919 on external eICU data; recall 79.1%.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Adaptation: same architecture-task match - attention LSTM for real-time ICU risk; SynCura adds SHAP feature explanations.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 b="0">
                <a:solidFill>
                  <a:srgbClr val="000000"/>
                </a:solidFill>
                <a:latin typeface="Times New Roman"/>
              </a:rPr>
              <a:t>Limitation: retrospective data till discharge; AUROC rises to 98.9 at discharge (hindsight bias). SynCura fixes this with 90-min only, no future info.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800" b="1">
                <a:solidFill>
                  <a:srgbClr val="000000"/>
                </a:solidFill>
                <a:latin typeface="Times New Roman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Times New Roman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PROPOSED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Idea: SynCura - an attention-based LSTM over a rolling 90-minute window of 12 clinical features, returning a 0-100 risk score with explanations.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Different/better - metrics: reports false alarms, sensitivity, specificity, precision, lead time, and a NEWS2 comparison; most papers report AUC only.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Different/better - evidence: fresh unseen 20% set-B holdout AUC 0.844 exceeds validation AUC 0.840.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Different/better - deployment: an end-to-end FastAPI serving path, alerts, and HTTP and MQTT ingestion - not just a trained model.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Different/better - learns from mistakes: confirmed misses/false alarms queue into weighted retraining.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800" b="1">
                <a:solidFill>
                  <a:srgbClr val="000000"/>
                </a:solidFill>
                <a:latin typeface="Times New Roman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Times New Roman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METHODOLOGY / PROPOSED APPROACH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51560" y="3977639"/>
            <a:ext cx="260604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757AC"/>
                </a:solidFill>
                <a:latin typeface="Times New Roman"/>
              </a:rPr>
              <a:t>1 · DATA</a:t>
            </a:r>
          </a:p>
          <a:p>
            <a:pPr algn="ctr">
              <a:spcBef>
                <a:spcPts val="600"/>
              </a:spcBef>
            </a:pPr>
            <a:r>
              <a:rPr sz="1500">
                <a:solidFill>
                  <a:srgbClr val="000000"/>
                </a:solidFill>
                <a:latin typeface="Times New Roman"/>
              </a:rPr>
              <a:t>PhysioNet 2012
12 vitals + labs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712464" y="4850892"/>
            <a:ext cx="457200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24528" y="3977639"/>
            <a:ext cx="260604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757AC"/>
                </a:solidFill>
                <a:latin typeface="Times New Roman"/>
              </a:rPr>
              <a:t>2 · PREPARE</a:t>
            </a:r>
          </a:p>
          <a:p>
            <a:pPr algn="ctr">
              <a:spcBef>
                <a:spcPts val="600"/>
              </a:spcBef>
            </a:pPr>
            <a:r>
              <a:rPr sz="1500">
                <a:solidFill>
                  <a:srgbClr val="000000"/>
                </a:solidFill>
                <a:latin typeface="Times New Roman"/>
              </a:rPr>
              <a:t>Interpolate
Train-only z-score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885432" y="4850892"/>
            <a:ext cx="457200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97496" y="3977639"/>
            <a:ext cx="260604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757AC"/>
                </a:solidFill>
                <a:latin typeface="Times New Roman"/>
              </a:rPr>
              <a:t>3 · WINDOW</a:t>
            </a:r>
          </a:p>
          <a:p>
            <a:pPr algn="ctr">
              <a:spcBef>
                <a:spcPts val="600"/>
              </a:spcBef>
            </a:pPr>
            <a:r>
              <a:rPr sz="1500">
                <a:solidFill>
                  <a:srgbClr val="000000"/>
                </a:solidFill>
                <a:latin typeface="Times New Roman"/>
              </a:rPr>
              <a:t>90-min rolling
Stride 15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0058400" y="4850892"/>
            <a:ext cx="457200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570464" y="3977639"/>
            <a:ext cx="260604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757AC"/>
                </a:solidFill>
                <a:latin typeface="Times New Roman"/>
              </a:rPr>
              <a:t>4 · MODEL</a:t>
            </a:r>
          </a:p>
          <a:p>
            <a:pPr algn="ctr">
              <a:spcBef>
                <a:spcPts val="600"/>
              </a:spcBef>
            </a:pPr>
            <a:r>
              <a:rPr sz="1500">
                <a:solidFill>
                  <a:srgbClr val="000000"/>
                </a:solidFill>
                <a:latin typeface="Times New Roman"/>
              </a:rPr>
              <a:t>LSTM-96 + attention
Risk 0–100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13231368" y="4850892"/>
            <a:ext cx="457200" cy="402336"/>
          </a:xfrm>
          <a:prstGeom prst="rightArrow">
            <a:avLst/>
          </a:prstGeom>
          <a:solidFill>
            <a:srgbClr val="1757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3743432" y="3977639"/>
            <a:ext cx="2606040" cy="21488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75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757AC"/>
                </a:solidFill>
                <a:latin typeface="Times New Roman"/>
              </a:rPr>
              <a:t>5 · SERVE</a:t>
            </a:r>
          </a:p>
          <a:p>
            <a:pPr algn="ctr">
              <a:spcBef>
                <a:spcPts val="600"/>
              </a:spcBef>
            </a:pPr>
            <a:r>
              <a:rPr sz="1500">
                <a:solidFill>
                  <a:srgbClr val="000000"/>
                </a:solidFill>
                <a:latin typeface="Times New Roman"/>
              </a:rPr>
              <a:t>FastAPI + dashboard
SHAP explains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629400"/>
            <a:ext cx="152979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i="1">
                <a:solidFill>
                  <a:srgbClr val="444444"/>
                </a:solidFill>
                <a:latin typeface="Times New Roman"/>
              </a:rPr>
              <a:t>Leakage controls: train-only stats · patient-level split · past-only windows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800" b="1">
                <a:solidFill>
                  <a:srgbClr val="000000"/>
                </a:solidFill>
                <a:latin typeface="Times New Roman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Times New Roman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EXPECTED OUTCOME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A working real-time ICU dashboard displaying deterioration risk from recent clinical measurements.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A 0-to-100 risk score with temporal and feature-level explanations for each patient.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An AUC-ROC target in the realistic 0.78-0.93 range for a single-dataset vitals-plus-labs system.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Investigate earlier warning relative to the NEWS2 baseline, measured properly.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Demonstrate a feasible, explainable research prototype - not clinical deployment readiness.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800" b="1">
                <a:solidFill>
                  <a:srgbClr val="000000"/>
                </a:solidFill>
                <a:latin typeface="Times New Roman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Times New Roman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EXPERIMENTAL RESULT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Deployed ensemble: 0.840 validation AUC and 0.844 AUC on the fresh unseen 20% set-B holdout.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Holdout performance exceeds validation performance, indicating no overfitting to the validation split.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Evaluation also reports sensitivity, specificity, precision, false-alarm count, and lead-time estimate, benchmarked against the NEWS2 baseline.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Next evaluation steps: calibration, threshold analysis, and prospective validation before clinical use.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800" b="1">
                <a:solidFill>
                  <a:srgbClr val="000000"/>
                </a:solidFill>
                <a:latin typeface="Times New Roman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Times New Roman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HOW IT COULD BE BETTER WITH ENOUGH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Paper: 0.936 overall, 98.9 at discharge (hindsight); cross-hospital falls to 0.81 / 0.76, no prospective test.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Real world: US-only retrospective, missing/async vitals, age bias, single-center data.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SynCura stricter: 90-min window only, no future info; unseen holdout 0.844 beats validation 0.840.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SynCura reports what papers skip: false alarms, precision, lead time vs NEWS2, calibration.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Better-paper path: eICU/MIMIC validation + RealMIP imputation + time-aware attention + pilot.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800" b="1">
                <a:solidFill>
                  <a:srgbClr val="000000"/>
                </a:solidFill>
                <a:latin typeface="Times New Roman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Times New Roman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TECHNOLOGY / TOOLS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Programming: Python for machine learning and backend services; JavaScript for the frontend.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ML and backend: PyTorch, FastAPI, SQLite, scikit-learn, and SHAP.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Frontend: React, Vite, and Tailwind CSS.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Dataset: PhysioNet / Computing in Cardiology Challenge 2012.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SDG relevance: SDG 3 (Good Health and Well-Being) and SDG 9 (Industry, Innovation and Infrastructure).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800" b="1">
                <a:solidFill>
                  <a:srgbClr val="000000"/>
                </a:solidFill>
                <a:latin typeface="Times New Roman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Times New Roman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SDG RELEVANCE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SDG 3 - Good Health and Well-Being: earlier detection of ICU deterioration supports timely clinical review and better patient monitoring.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SDG 9 - Industry, Innovation and Infrastructure: explainable deep learning integrated into a modern monitoring workflow - ML, APIs, visualization, and sensor-ready architecture.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800" b="1">
                <a:solidFill>
                  <a:srgbClr val="000000"/>
                </a:solidFill>
                <a:latin typeface="Times New Roman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Times New Roman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FUTURE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Perform calibration, decision-curve analysis, and prospective evaluation with clinical collaborators.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Add robust missing-data handling and test performance across hospitals and patient subgroups.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Compare attention-LSTM with transformer and graph-based temporal models.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Explore multimodal fusion with clinical notes and safer integration with real bedside data streams.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Investigate privacy-preserving and edge-assisted deployment only after clinical validation.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800" b="1">
                <a:solidFill>
                  <a:srgbClr val="000000"/>
                </a:solidFill>
                <a:latin typeface="Times New Roman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Times New Roman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 sz="2100">
                <a:solidFill>
                  <a:srgbClr val="000000"/>
                </a:solidFill>
                <a:latin typeface="Times New Roman"/>
              </a:rPr>
              <a:t>SynCura demonstrates an end-to-end explainable ICU risk-monitoring workflow from clinical time-series input to dashboard output.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Temporal attention and SHAP provide an interpretable view of which time steps and features influenced the prediction.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The deployed ensemble achieved 0.840 validation AUC and 0.844 set-B holdout AUC.</a:t>
            </a:r>
          </a:p>
          <a:p>
            <a:pPr/>
            <a:r>
              <a:rPr sz="2100">
                <a:solidFill>
                  <a:srgbClr val="000000"/>
                </a:solidFill>
                <a:latin typeface="Times New Roman"/>
              </a:rPr>
              <a:t>These results support the prototype concept, while further clinical and external validation is required before real-world use.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800" b="1">
                <a:solidFill>
                  <a:srgbClr val="000000"/>
                </a:solidFill>
                <a:latin typeface="Times New Roman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Times New Roman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79676"/>
            <a:ext cx="16459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3400" b="1">
                <a:solidFill>
                  <a:srgbClr val="1757AC"/>
                </a:solidFill>
                <a:latin typeface="Times New Roman"/>
              </a:rP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295" y="3261665"/>
            <a:ext cx="16303752" cy="6035040"/>
          </a:xfrm>
          <a:prstGeom prst="rect">
            <a:avLst/>
          </a:prstGeom>
          <a:noFill/>
        </p:spPr>
        <p:txBody>
          <a:bodyPr wrap="square"/>
          <a:lstStyle/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/>
              <a:t>[1] Y. Wang, Y. Bai, and G. Jin, Explainable Deep-Learning Models..., Frontiers in Physiology, vol. 17, 2026.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/>
              <a:t>[2] Z. Yan et al., Deep learning-based in-hospital mortality prediction..., PeerJ, vol. 14, e21631, 2026.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/>
              <a:t>[3] B. Sadanandan, Multimodal Deep Learning for Early Prediction..., arXiv:2603.14719, 2026.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/>
              <a:t>[4] Y. Wu et al., Revisiting the potential value of vital signs..., Journal of Big Data, vol. 11, no. 40, 2024.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/>
              <a:t>[5] P. Xie et al., Unlocking real-time ICU mortality prediction..., npj Digital Medicine, vol. 8, 733, 2025.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/>
              <a:t>[6] E. Choi et al., Deep Interpretable Early Warning System..., IEEE JBHI, vol. 24, no. 9, 2020.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/>
              <a:t>[7] M. R. Scheid et al., Clinical wearable deep learning based deterioration prediction..., Nature Communications, vol. 16, 9513, 2025.</a:t>
            </a:r>
          </a:p>
          <a:p>
            <a:pPr marL="406400" indent="-406400">
              <a:lnSpc>
                <a:spcPct val="150000"/>
              </a:lnSpc>
              <a:spcAft>
                <a:spcPts val="1400"/>
              </a:spcAft>
              <a:buSzPct val="100000"/>
              <a:buChar char="•"/>
            </a:pPr>
            <a:r>
              <a:rPr/>
              <a:t>[8] PhysioNet, Computing in Cardiology Challenge 2012, physionet.org/content/challenge-2012/.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315261" cy="217901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2739" y="0"/>
            <a:ext cx="2315261" cy="21790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73652" y="886054"/>
            <a:ext cx="10113264" cy="123444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lnSpc>
                <a:spcPct val="150000"/>
              </a:lnSpc>
              <a:buNone/>
            </a:pPr>
            <a:r>
              <a:rPr sz="2800" b="1">
                <a:solidFill>
                  <a:srgbClr val="000000"/>
                </a:solidFill>
                <a:latin typeface="Times New Roman"/>
              </a:rPr>
              <a:t>P.A. COLLEGE OF ENGINEERING
</a:t>
            </a:r>
            <a:r>
              <a:rPr sz="2000" b="1">
                <a:solidFill>
                  <a:srgbClr val="000000"/>
                </a:solidFill>
                <a:latin typeface="Times New Roman"/>
              </a:rPr>
              <a:t>DEPARTMENT OF COMPUTER SCIENCE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64592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ctr" indent="0" marL="0">
              <a:buNone/>
            </a:pPr>
            <a:r>
              <a:rPr sz="6000" b="1">
                <a:solidFill>
                  <a:srgbClr val="000000"/>
                </a:solidFill>
                <a:latin typeface="Times New Roman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